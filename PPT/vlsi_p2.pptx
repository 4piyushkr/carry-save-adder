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6" r:id="rId3"/>
    <p:sldId id="267" r:id="rId4"/>
    <p:sldId id="259" r:id="rId5"/>
    <p:sldId id="261" r:id="rId6"/>
    <p:sldId id="270" r:id="rId7"/>
    <p:sldId id="258" r:id="rId8"/>
    <p:sldId id="268" r:id="rId9"/>
    <p:sldId id="263" r:id="rId10"/>
    <p:sldId id="269" r:id="rId11"/>
    <p:sldId id="264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93B839-2599-44A1-A9AF-6A697E3C7E2C}" v="6" dt="2026-03-15T19:04:02.0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88" autoAdjust="0"/>
  </p:normalViewPr>
  <p:slideViewPr>
    <p:cSldViewPr>
      <p:cViewPr varScale="1">
        <p:scale>
          <a:sx n="101" d="100"/>
          <a:sy n="101" d="100"/>
        </p:scale>
        <p:origin x="92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upta" userId="e5dab055c36b7fd1" providerId="LiveId" clId="{3220E06B-B7C6-4553-B7A0-C7A9BDCF1FB0}"/>
    <pc:docChg chg="undo custSel modSld sldOrd">
      <pc:chgData name="Anuj Gupta" userId="e5dab055c36b7fd1" providerId="LiveId" clId="{3220E06B-B7C6-4553-B7A0-C7A9BDCF1FB0}" dt="2026-03-15T19:04:02.073" v="109" actId="164"/>
      <pc:docMkLst>
        <pc:docMk/>
      </pc:docMkLst>
      <pc:sldChg chg="addSp modSp">
        <pc:chgData name="Anuj Gupta" userId="e5dab055c36b7fd1" providerId="LiveId" clId="{3220E06B-B7C6-4553-B7A0-C7A9BDCF1FB0}" dt="2026-03-15T19:04:02.073" v="109" actId="164"/>
        <pc:sldMkLst>
          <pc:docMk/>
          <pc:sldMk cId="0" sldId="259"/>
        </pc:sldMkLst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28" creationId="{A1CB1672-E08F-C15E-E51E-543941D71410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51" creationId="{39F5D590-BDC6-7876-133F-1EDED805CF0F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52" creationId="{A62BA771-21C9-103F-C599-F48AF8B2842B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55" creationId="{722E7535-5166-32B3-A568-EB07BD061242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71" creationId="{E7C6D208-97EA-3EDF-1555-A5666750CA4F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77" creationId="{2EB11AC1-1B2F-B0A9-9014-AC641F8AE4D5}"/>
          </ac:spMkLst>
        </pc:spChg>
        <pc:spChg chg="mod">
          <ac:chgData name="Anuj Gupta" userId="e5dab055c36b7fd1" providerId="LiveId" clId="{3220E06B-B7C6-4553-B7A0-C7A9BDCF1FB0}" dt="2026-03-15T19:04:02.073" v="109" actId="164"/>
          <ac:spMkLst>
            <pc:docMk/>
            <pc:sldMk cId="0" sldId="259"/>
            <ac:spMk id="85" creationId="{7A903152-3712-03DA-EC44-B0CDCA65FE30}"/>
          </ac:spMkLst>
        </pc:spChg>
      </pc:sldChg>
      <pc:sldChg chg="modSp mod">
        <pc:chgData name="Anuj Gupta" userId="e5dab055c36b7fd1" providerId="LiveId" clId="{3220E06B-B7C6-4553-B7A0-C7A9BDCF1FB0}" dt="2026-02-16T04:01:33.346" v="8" actId="20577"/>
        <pc:sldMkLst>
          <pc:docMk/>
          <pc:sldMk cId="0" sldId="261"/>
        </pc:sldMkLst>
        <pc:spChg chg="mod">
          <ac:chgData name="Anuj Gupta" userId="e5dab055c36b7fd1" providerId="LiveId" clId="{3220E06B-B7C6-4553-B7A0-C7A9BDCF1FB0}" dt="2026-02-16T04:01:33.346" v="8" actId="20577"/>
          <ac:spMkLst>
            <pc:docMk/>
            <pc:sldMk cId="0" sldId="261"/>
            <ac:spMk id="65" creationId="{9B349553-E2C4-B679-964E-C18BF58BF217}"/>
          </ac:spMkLst>
        </pc:spChg>
      </pc:sldChg>
      <pc:sldChg chg="ord">
        <pc:chgData name="Anuj Gupta" userId="e5dab055c36b7fd1" providerId="LiveId" clId="{3220E06B-B7C6-4553-B7A0-C7A9BDCF1FB0}" dt="2026-02-16T04:05:48.040" v="16"/>
        <pc:sldMkLst>
          <pc:docMk/>
          <pc:sldMk cId="0" sldId="263"/>
        </pc:sldMkLst>
      </pc:sldChg>
      <pc:sldChg chg="addSp modSp mod">
        <pc:chgData name="Anuj Gupta" userId="e5dab055c36b7fd1" providerId="LiveId" clId="{3220E06B-B7C6-4553-B7A0-C7A9BDCF1FB0}" dt="2026-02-16T05:53:43.932" v="108" actId="1076"/>
        <pc:sldMkLst>
          <pc:docMk/>
          <pc:sldMk cId="2777673707" sldId="265"/>
        </pc:sldMkLst>
        <pc:spChg chg="add mod">
          <ac:chgData name="Anuj Gupta" userId="e5dab055c36b7fd1" providerId="LiveId" clId="{3220E06B-B7C6-4553-B7A0-C7A9BDCF1FB0}" dt="2026-02-16T05:53:43.932" v="108" actId="1076"/>
          <ac:spMkLst>
            <pc:docMk/>
            <pc:sldMk cId="2777673707" sldId="265"/>
            <ac:spMk id="6" creationId="{E7184F96-2404-AD14-0C21-4BC5DD4217E8}"/>
          </ac:spMkLst>
        </pc:spChg>
      </pc:sldChg>
      <pc:sldChg chg="modSp mod">
        <pc:chgData name="Anuj Gupta" userId="e5dab055c36b7fd1" providerId="LiveId" clId="{3220E06B-B7C6-4553-B7A0-C7A9BDCF1FB0}" dt="2026-02-16T03:57:53.920" v="7" actId="115"/>
        <pc:sldMkLst>
          <pc:docMk/>
          <pc:sldMk cId="2052981712" sldId="267"/>
        </pc:sldMkLst>
        <pc:graphicFrameChg chg="modGraphic">
          <ac:chgData name="Anuj Gupta" userId="e5dab055c36b7fd1" providerId="LiveId" clId="{3220E06B-B7C6-4553-B7A0-C7A9BDCF1FB0}" dt="2026-02-16T03:57:53.920" v="7" actId="115"/>
          <ac:graphicFrameMkLst>
            <pc:docMk/>
            <pc:sldMk cId="2052981712" sldId="267"/>
            <ac:graphicFrameMk id="11" creationId="{AB6AC74D-744F-1E48-F1D3-3A1A89A24EF4}"/>
          </ac:graphicFrameMkLst>
        </pc:graphicFrameChg>
      </pc:sldChg>
      <pc:sldChg chg="addSp modSp mod">
        <pc:chgData name="Anuj Gupta" userId="e5dab055c36b7fd1" providerId="LiveId" clId="{3220E06B-B7C6-4553-B7A0-C7A9BDCF1FB0}" dt="2026-02-16T05:34:30.138" v="82" actId="1076"/>
        <pc:sldMkLst>
          <pc:docMk/>
          <pc:sldMk cId="23969796" sldId="268"/>
        </pc:sldMkLst>
        <pc:spChg chg="add mod">
          <ac:chgData name="Anuj Gupta" userId="e5dab055c36b7fd1" providerId="LiveId" clId="{3220E06B-B7C6-4553-B7A0-C7A9BDCF1FB0}" dt="2026-02-16T05:30:32.738" v="47" actId="1076"/>
          <ac:spMkLst>
            <pc:docMk/>
            <pc:sldMk cId="23969796" sldId="268"/>
            <ac:spMk id="2" creationId="{5BE75126-AB0F-A134-49C1-5264B87C3B30}"/>
          </ac:spMkLst>
        </pc:spChg>
        <pc:spChg chg="add mod">
          <ac:chgData name="Anuj Gupta" userId="e5dab055c36b7fd1" providerId="LiveId" clId="{3220E06B-B7C6-4553-B7A0-C7A9BDCF1FB0}" dt="2026-02-16T05:31:12.153" v="64" actId="1076"/>
          <ac:spMkLst>
            <pc:docMk/>
            <pc:sldMk cId="23969796" sldId="268"/>
            <ac:spMk id="3" creationId="{B63F446E-F78E-5B92-B90E-7A452584A13E}"/>
          </ac:spMkLst>
        </pc:spChg>
        <pc:spChg chg="add mod">
          <ac:chgData name="Anuj Gupta" userId="e5dab055c36b7fd1" providerId="LiveId" clId="{3220E06B-B7C6-4553-B7A0-C7A9BDCF1FB0}" dt="2026-02-16T05:31:53.505" v="81" actId="1076"/>
          <ac:spMkLst>
            <pc:docMk/>
            <pc:sldMk cId="23969796" sldId="268"/>
            <ac:spMk id="4" creationId="{D6843D54-65A7-0817-D4A2-D59FFBB702C3}"/>
          </ac:spMkLst>
        </pc:spChg>
        <pc:spChg chg="mod">
          <ac:chgData name="Anuj Gupta" userId="e5dab055c36b7fd1" providerId="LiveId" clId="{3220E06B-B7C6-4553-B7A0-C7A9BDCF1FB0}" dt="2026-02-16T05:34:30.138" v="82" actId="1076"/>
          <ac:spMkLst>
            <pc:docMk/>
            <pc:sldMk cId="23969796" sldId="268"/>
            <ac:spMk id="10" creationId="{4F89116D-16A0-259B-D049-AA81FCBAFE70}"/>
          </ac:spMkLst>
        </pc:spChg>
        <pc:spChg chg="mod">
          <ac:chgData name="Anuj Gupta" userId="e5dab055c36b7fd1" providerId="LiveId" clId="{3220E06B-B7C6-4553-B7A0-C7A9BDCF1FB0}" dt="2026-02-16T05:29:39.287" v="36" actId="255"/>
          <ac:spMkLst>
            <pc:docMk/>
            <pc:sldMk cId="23969796" sldId="268"/>
            <ac:spMk id="12" creationId="{E068B415-8CBA-161C-A795-19091023D802}"/>
          </ac:spMkLst>
        </pc:spChg>
        <pc:spChg chg="mod">
          <ac:chgData name="Anuj Gupta" userId="e5dab055c36b7fd1" providerId="LiveId" clId="{3220E06B-B7C6-4553-B7A0-C7A9BDCF1FB0}" dt="2026-02-16T04:03:24.666" v="12" actId="20577"/>
          <ac:spMkLst>
            <pc:docMk/>
            <pc:sldMk cId="23969796" sldId="268"/>
            <ac:spMk id="21" creationId="{639B48EE-C692-0393-DBA0-8064E7EAECA7}"/>
          </ac:spMkLst>
        </pc:spChg>
        <pc:spChg chg="mod">
          <ac:chgData name="Anuj Gupta" userId="e5dab055c36b7fd1" providerId="LiveId" clId="{3220E06B-B7C6-4553-B7A0-C7A9BDCF1FB0}" dt="2026-02-16T04:03:33.679" v="14" actId="20577"/>
          <ac:spMkLst>
            <pc:docMk/>
            <pc:sldMk cId="23969796" sldId="268"/>
            <ac:spMk id="25" creationId="{E04C3360-3005-7E79-10DC-23D6AA5C445E}"/>
          </ac:spMkLst>
        </pc:spChg>
      </pc:sldChg>
      <pc:sldChg chg="modSp mod">
        <pc:chgData name="Anuj Gupta" userId="e5dab055c36b7fd1" providerId="LiveId" clId="{3220E06B-B7C6-4553-B7A0-C7A9BDCF1FB0}" dt="2026-02-16T04:05:53.846" v="18" actId="20577"/>
        <pc:sldMkLst>
          <pc:docMk/>
          <pc:sldMk cId="2107399637" sldId="269"/>
        </pc:sldMkLst>
        <pc:spChg chg="mod">
          <ac:chgData name="Anuj Gupta" userId="e5dab055c36b7fd1" providerId="LiveId" clId="{3220E06B-B7C6-4553-B7A0-C7A9BDCF1FB0}" dt="2026-02-16T04:05:53.846" v="18" actId="20577"/>
          <ac:spMkLst>
            <pc:docMk/>
            <pc:sldMk cId="2107399637" sldId="269"/>
            <ac:spMk id="2" creationId="{CDEB8C5F-FB62-1B6F-9C3B-E840F41ED4D8}"/>
          </ac:spMkLst>
        </pc:spChg>
      </pc:sldChg>
      <pc:sldChg chg="modSp mod">
        <pc:chgData name="Anuj Gupta" userId="e5dab055c36b7fd1" providerId="LiveId" clId="{3220E06B-B7C6-4553-B7A0-C7A9BDCF1FB0}" dt="2026-02-16T04:43:45.033" v="34" actId="20577"/>
        <pc:sldMkLst>
          <pc:docMk/>
          <pc:sldMk cId="1685630786" sldId="270"/>
        </pc:sldMkLst>
        <pc:spChg chg="mod">
          <ac:chgData name="Anuj Gupta" userId="e5dab055c36b7fd1" providerId="LiveId" clId="{3220E06B-B7C6-4553-B7A0-C7A9BDCF1FB0}" dt="2026-02-16T04:43:45.033" v="34" actId="20577"/>
          <ac:spMkLst>
            <pc:docMk/>
            <pc:sldMk cId="1685630786" sldId="270"/>
            <ac:spMk id="145" creationId="{907B0EF9-885B-4A03-1DC9-6380DCDAE5B4}"/>
          </ac:spMkLst>
        </pc:spChg>
        <pc:spChg chg="mod">
          <ac:chgData name="Anuj Gupta" userId="e5dab055c36b7fd1" providerId="LiveId" clId="{3220E06B-B7C6-4553-B7A0-C7A9BDCF1FB0}" dt="2026-02-16T04:43:36.832" v="26" actId="20577"/>
          <ac:spMkLst>
            <pc:docMk/>
            <pc:sldMk cId="1685630786" sldId="270"/>
            <ac:spMk id="149" creationId="{F2C20EEE-8910-8A14-2689-A92FF97F077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DBC5-A1B4-E476-4216-2CD2FDA3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95709-1184-02AC-5FB9-18039DCB4738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F699B-2204-72E2-19BC-292B09963D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168230E-8387-89C9-5674-4D3D1A93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Aptos" panose="020B0004020202020204" pitchFamily="34" charset="0"/>
              </a:rPr>
              <a:t>“High Performance Carry Save Adder </a:t>
            </a:r>
            <a:br>
              <a:rPr lang="en-IN" sz="3200" b="1" dirty="0">
                <a:latin typeface="Aptos" panose="020B0004020202020204" pitchFamily="34" charset="0"/>
              </a:rPr>
            </a:br>
            <a:r>
              <a:rPr lang="en-IN" sz="3200" b="1" dirty="0">
                <a:latin typeface="Aptos" panose="020B0004020202020204" pitchFamily="34" charset="0"/>
              </a:rPr>
              <a:t>Design : Based on </a:t>
            </a:r>
            <a:r>
              <a:rPr lang="en-US" sz="3200" b="1" dirty="0">
                <a:latin typeface="Aptos" panose="020B0004020202020204" pitchFamily="34" charset="0"/>
              </a:rPr>
              <a:t>Parallel Addition Technique”</a:t>
            </a:r>
            <a:endParaRPr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71CF6-5ED2-37F5-B7DB-512F7B22B44E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63674-2964-E347-E78C-AB89A7867448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84F96-2404-AD14-0C21-4BC5DD4217E8}"/>
              </a:ext>
            </a:extLst>
          </p:cNvPr>
          <p:cNvSpPr txBox="1"/>
          <p:nvPr/>
        </p:nvSpPr>
        <p:spPr>
          <a:xfrm>
            <a:off x="6959054" y="-15114"/>
            <a:ext cx="228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Date – 16</a:t>
            </a:r>
            <a:r>
              <a:rPr lang="en-IN" b="1" baseline="30000" dirty="0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 Feb 2026</a:t>
            </a:r>
          </a:p>
        </p:txBody>
      </p:sp>
    </p:spTree>
    <p:extLst>
      <p:ext uri="{BB962C8B-B14F-4D97-AF65-F5344CB8AC3E}">
        <p14:creationId xmlns:p14="http://schemas.microsoft.com/office/powerpoint/2010/main" val="277767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B39F2E-30E9-9179-533A-C016841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046C7-FF37-B682-88B7-78B5CB8152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7B346D-31B8-F7B0-CA69-DC6B60731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lang="en-IN" sz="2700" spc="150" dirty="0">
                <a:solidFill>
                  <a:srgbClr val="FFFAF0"/>
                </a:solidFill>
              </a:rPr>
              <a:t>1. Recap of Week 1</a:t>
            </a:r>
            <a:endParaRPr sz="27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2A100D-2634-8F59-6D0A-6009F15A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19150"/>
            <a:ext cx="8179450" cy="2441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RECAP OF WEEK 1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────────────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Studied CSA concept and working principle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Reviewed HA and FA fundamentals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Analyzed mathematical model of CSA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Compared with conventional adders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Studied architecture and methodology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• Explored applications and advantages</a:t>
            </a:r>
          </a:p>
        </p:txBody>
      </p:sp>
    </p:spTree>
    <p:extLst>
      <p:ext uri="{BB962C8B-B14F-4D97-AF65-F5344CB8AC3E}">
        <p14:creationId xmlns:p14="http://schemas.microsoft.com/office/powerpoint/2010/main" val="42191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15445-5D93-6874-8D44-691E5712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6AC74D-744F-1E48-F1D3-3A1A89A24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248905"/>
              </p:ext>
            </p:extLst>
          </p:nvPr>
        </p:nvGraphicFramePr>
        <p:xfrm>
          <a:off x="0" y="0"/>
          <a:ext cx="9144000" cy="5143499"/>
        </p:xfrm>
        <a:graphic>
          <a:graphicData uri="http://schemas.openxmlformats.org/drawingml/2006/table">
            <a:tbl>
              <a:tblPr>
                <a:solidFill>
                  <a:schemeClr val="tx1"/>
                </a:solidFill>
                <a:tableStyleId>{C4B1156A-380E-4F78-BDF5-A606A8083BF9}</a:tableStyleId>
              </a:tblPr>
              <a:tblGrid>
                <a:gridCol w="2568439">
                  <a:extLst>
                    <a:ext uri="{9D8B030D-6E8A-4147-A177-3AD203B41FA5}">
                      <a16:colId xmlns:a16="http://schemas.microsoft.com/office/drawing/2014/main" val="3966612710"/>
                    </a:ext>
                  </a:extLst>
                </a:gridCol>
                <a:gridCol w="2164363">
                  <a:extLst>
                    <a:ext uri="{9D8B030D-6E8A-4147-A177-3AD203B41FA5}">
                      <a16:colId xmlns:a16="http://schemas.microsoft.com/office/drawing/2014/main" val="4275819650"/>
                    </a:ext>
                  </a:extLst>
                </a:gridCol>
                <a:gridCol w="2169024">
                  <a:extLst>
                    <a:ext uri="{9D8B030D-6E8A-4147-A177-3AD203B41FA5}">
                      <a16:colId xmlns:a16="http://schemas.microsoft.com/office/drawing/2014/main" val="3431815782"/>
                    </a:ext>
                  </a:extLst>
                </a:gridCol>
                <a:gridCol w="2242174">
                  <a:extLst>
                    <a:ext uri="{9D8B030D-6E8A-4147-A177-3AD203B41FA5}">
                      <a16:colId xmlns:a16="http://schemas.microsoft.com/office/drawing/2014/main" val="646365103"/>
                    </a:ext>
                  </a:extLst>
                </a:gridCol>
              </a:tblGrid>
              <a:tr h="29790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Research Paper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Advantages (Pros)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Limitations (Cons)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1" u="sng" dirty="0">
                          <a:solidFill>
                            <a:schemeClr val="bg1"/>
                          </a:solidFill>
                          <a:effectLst/>
                        </a:rPr>
                        <a:t>Key Use-Cases</a:t>
                      </a:r>
                      <a:endParaRPr lang="en-IN" sz="1600" u="sng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403016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i="0" u="sng" dirty="0">
                          <a:solidFill>
                            <a:schemeClr val="bg1"/>
                          </a:solidFill>
                        </a:rPr>
                        <a:t>B. Ramkumar, Harish M Kittur, P. Mahesh Kannan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(2010)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ASIC Implementation of Modified Faster Carry Save Adder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Comprehensive delay analysis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Good balance of performance metrics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Scalable architecture for different bit widths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Older technology node 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Limited power optimization focus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Low-latency arithmetic blocks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Multipliers in DSP processors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• Embedded processing hardware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5769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u="sng" dirty="0">
                          <a:solidFill>
                            <a:schemeClr val="bg1"/>
                          </a:solidFill>
                        </a:rPr>
                        <a:t>S. Kaja Mohideen et al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(2014)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Design of High Speed Carry Save Adder Using Carry Lookahead Adder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Significant speed improvement (27.5%)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RTL code available for implementation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Modern synthesis tools used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Limited power consumption data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May require modifications for standard cell library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Real-time signal processing systems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High-performance </a:t>
                      </a: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processor ALUs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Suitable for DSP applications 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572939"/>
                  </a:ext>
                </a:extLst>
              </a:tr>
              <a:tr h="161519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u="sng" dirty="0">
                          <a:solidFill>
                            <a:schemeClr val="bg1"/>
                          </a:solidFill>
                        </a:rPr>
                        <a:t>IEEE Conference Publication</a:t>
                      </a: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</a:rPr>
                        <a:t>(2019)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 Systematic Delay and Power Dominant Carry Save Adder Design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Balanced power-delay optimization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Modern design approach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Multiple bit-width options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Less comprehensive performance data  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Limited area comparison data</a:t>
                      </a:r>
                      <a:endParaRPr lang="en-IN" sz="1600" b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Low-power VLSI systems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Battery-operated embedded devices</a:t>
                      </a:r>
                    </a:p>
                    <a:p>
                      <a:pPr algn="l" rtl="0"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  <a:effectLst/>
                        </a:rPr>
                        <a:t>• 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Portable computing devices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3908" marR="23908" marT="15939" marB="15939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74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81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23C648-BF2A-BCB9-A455-87BB62CE240A}"/>
              </a:ext>
            </a:extLst>
          </p:cNvPr>
          <p:cNvGrpSpPr/>
          <p:nvPr/>
        </p:nvGrpSpPr>
        <p:grpSpPr>
          <a:xfrm>
            <a:off x="-533400" y="21692"/>
            <a:ext cx="10662333" cy="4938292"/>
            <a:chOff x="-533400" y="21692"/>
            <a:chExt cx="10662333" cy="4938292"/>
          </a:xfrm>
        </p:grpSpPr>
        <p:sp>
          <p:nvSpPr>
            <p:cNvPr id="4" name="object 4"/>
            <p:cNvSpPr txBox="1"/>
            <p:nvPr/>
          </p:nvSpPr>
          <p:spPr>
            <a:xfrm>
              <a:off x="3895953" y="739242"/>
              <a:ext cx="2437765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600" b="1" u="sng" spc="-55" dirty="0">
                  <a:latin typeface="Aptos" panose="020B0004020202020204" pitchFamily="34" charset="0"/>
                  <a:cs typeface="Arial"/>
                </a:rPr>
                <a:t>Hardware Complexity </a:t>
              </a:r>
              <a:endParaRPr lang="en-IN" sz="1600" u="sng" dirty="0">
                <a:latin typeface="Aptos" panose="020B0004020202020204" pitchFamily="34" charset="0"/>
                <a:cs typeface="Arial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1430503" y="753017"/>
              <a:ext cx="1535462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600" b="1" u="sng" spc="-10" dirty="0">
                  <a:latin typeface="Aptos" panose="020B0004020202020204" pitchFamily="34" charset="0"/>
                  <a:cs typeface="Arial"/>
                </a:rPr>
                <a:t>Carry Handling</a:t>
              </a:r>
              <a:endParaRPr lang="en-IN" sz="1600" u="sng" dirty="0">
                <a:latin typeface="Aptos" panose="020B0004020202020204" pitchFamily="34" charset="0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101949" y="758677"/>
              <a:ext cx="69215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600" b="1" u="sng" spc="-10" dirty="0">
                  <a:latin typeface="Aptos" panose="020B0004020202020204" pitchFamily="34" charset="0"/>
                  <a:cs typeface="Arial"/>
                </a:rPr>
                <a:t>Speed</a:t>
              </a:r>
              <a:endParaRPr lang="en-IN" sz="1600" u="sng" dirty="0">
                <a:latin typeface="Aptos" panose="020B0004020202020204" pitchFamily="34" charset="0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131755" y="1273410"/>
              <a:ext cx="1349375" cy="454355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348615" marR="5080" indent="-336550">
                <a:lnSpc>
                  <a:spcPts val="1650"/>
                </a:lnSpc>
                <a:spcBef>
                  <a:spcPts val="180"/>
                </a:spcBef>
                <a:buChar char="●"/>
                <a:tabLst>
                  <a:tab pos="348615" algn="l"/>
                </a:tabLst>
              </a:pPr>
              <a:r>
                <a:rPr sz="1400" dirty="0">
                  <a:latin typeface="Aptos" panose="020B0004020202020204" pitchFamily="34" charset="0"/>
                  <a:cs typeface="Arial MT"/>
                </a:rPr>
                <a:t>Ripple</a:t>
              </a:r>
              <a:r>
                <a:rPr sz="1400" spc="-30" dirty="0">
                  <a:latin typeface="Aptos" panose="020B0004020202020204" pitchFamily="34" charset="0"/>
                  <a:cs typeface="Arial MT"/>
                </a:rPr>
                <a:t> 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Carry Adder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1568476" y="2016060"/>
              <a:ext cx="1149398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spc="-10" dirty="0">
                  <a:latin typeface="Aptos" panose="020B0004020202020204" pitchFamily="34" charset="0"/>
                  <a:cs typeface="Arial MT"/>
                </a:rPr>
                <a:t>Parallel carry computation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160002" y="1293801"/>
              <a:ext cx="865505" cy="22826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dirty="0">
                  <a:latin typeface="Aptos" panose="020B0004020202020204" pitchFamily="34" charset="0"/>
                  <a:cs typeface="Arial MT"/>
                </a:rPr>
                <a:t>Slow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110338" y="1999799"/>
              <a:ext cx="1320165" cy="6578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47980" indent="-335280">
                <a:lnSpc>
                  <a:spcPts val="1664"/>
                </a:lnSpc>
                <a:spcBef>
                  <a:spcPts val="100"/>
                </a:spcBef>
                <a:buChar char="●"/>
                <a:tabLst>
                  <a:tab pos="347980" algn="l"/>
                </a:tabLst>
              </a:pPr>
              <a:r>
                <a:rPr sz="1400" spc="-10" dirty="0">
                  <a:latin typeface="Aptos" panose="020B0004020202020204" pitchFamily="34" charset="0"/>
                  <a:cs typeface="Arial MT"/>
                </a:rPr>
                <a:t>Carry</a:t>
              </a:r>
              <a:r>
                <a:rPr lang="en-IN" sz="1400" dirty="0">
                  <a:latin typeface="Aptos" panose="020B0004020202020204" pitchFamily="34" charset="0"/>
                  <a:cs typeface="Arial MT"/>
                </a:rPr>
                <a:t> 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Look</a:t>
              </a:r>
              <a:r>
                <a:rPr lang="en-IN" sz="1400" spc="-10" dirty="0">
                  <a:latin typeface="Aptos" panose="020B0004020202020204" pitchFamily="34" charset="0"/>
                  <a:cs typeface="Arial MT"/>
                </a:rPr>
                <a:t>-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Ahead</a:t>
              </a:r>
              <a:r>
                <a:rPr lang="en-IN" sz="1400" spc="-10" dirty="0">
                  <a:latin typeface="Aptos" panose="020B0004020202020204" pitchFamily="34" charset="0"/>
                  <a:cs typeface="Arial MT"/>
                </a:rPr>
                <a:t> 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Adder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1568476" y="2997301"/>
              <a:ext cx="885190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spc="-20" dirty="0">
                  <a:latin typeface="Aptos" panose="020B0004020202020204" pitchFamily="34" charset="0"/>
                  <a:cs typeface="Arial MT"/>
                </a:rPr>
                <a:t>Carry skip blocks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3084486" y="2016060"/>
              <a:ext cx="727075" cy="22826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spc="-10" dirty="0">
                  <a:latin typeface="Aptos" panose="020B0004020202020204" pitchFamily="34" charset="0"/>
                  <a:cs typeface="Arial MT"/>
                </a:rPr>
                <a:t>Very Fast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158543" y="3707454"/>
              <a:ext cx="1338580" cy="454355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348615" marR="5080" indent="-336550">
                <a:lnSpc>
                  <a:spcPts val="1650"/>
                </a:lnSpc>
                <a:spcBef>
                  <a:spcPts val="180"/>
                </a:spcBef>
                <a:buChar char="●"/>
                <a:tabLst>
                  <a:tab pos="348615" algn="l"/>
                </a:tabLst>
              </a:pPr>
              <a:r>
                <a:rPr sz="1400" dirty="0">
                  <a:latin typeface="Aptos" panose="020B0004020202020204" pitchFamily="34" charset="0"/>
                  <a:cs typeface="Arial MT"/>
                </a:rPr>
                <a:t>Carry</a:t>
              </a:r>
              <a:r>
                <a:rPr sz="1400" spc="-5" dirty="0">
                  <a:latin typeface="Aptos" panose="020B0004020202020204" pitchFamily="34" charset="0"/>
                  <a:cs typeface="Arial MT"/>
                </a:rPr>
                <a:t> 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Select Adder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584452" y="3716366"/>
              <a:ext cx="984828" cy="454355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180"/>
                </a:spcBef>
              </a:pPr>
              <a:r>
                <a:rPr lang="en-IN" sz="1400" spc="-10" dirty="0">
                  <a:latin typeface="Aptos" panose="020B0004020202020204" pitchFamily="34" charset="0"/>
                  <a:cs typeface="Arial MT"/>
                </a:rPr>
                <a:t>Parallel dual result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3081575" y="3733183"/>
              <a:ext cx="885190" cy="22826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dirty="0">
                  <a:latin typeface="Arial MT"/>
                  <a:cs typeface="Arial MT"/>
                </a:rPr>
                <a:t>Fast</a:t>
              </a:r>
              <a:endParaRPr sz="1400" dirty="0">
                <a:latin typeface="Arial MT"/>
                <a:cs typeface="Arial MT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58543" y="4423314"/>
              <a:ext cx="1250950" cy="454355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348615" marR="5080" indent="-336550">
                <a:lnSpc>
                  <a:spcPts val="1650"/>
                </a:lnSpc>
                <a:spcBef>
                  <a:spcPts val="180"/>
                </a:spcBef>
                <a:buChar char="●"/>
                <a:tabLst>
                  <a:tab pos="348615" algn="l"/>
                </a:tabLst>
              </a:pPr>
              <a:r>
                <a:rPr sz="1400" dirty="0">
                  <a:latin typeface="Aptos" panose="020B0004020202020204" pitchFamily="34" charset="0"/>
                  <a:cs typeface="Arial MT"/>
                </a:rPr>
                <a:t>Carry</a:t>
              </a:r>
              <a:r>
                <a:rPr sz="1400" spc="-5" dirty="0">
                  <a:latin typeface="Aptos" panose="020B0004020202020204" pitchFamily="34" charset="0"/>
                  <a:cs typeface="Arial MT"/>
                </a:rPr>
                <a:t> </a:t>
              </a:r>
              <a:r>
                <a:rPr sz="1400" spc="-20" dirty="0">
                  <a:latin typeface="Aptos" panose="020B0004020202020204" pitchFamily="34" charset="0"/>
                  <a:cs typeface="Arial MT"/>
                </a:rPr>
                <a:t>Save </a:t>
              </a:r>
              <a:r>
                <a:rPr sz="1400" spc="-10" dirty="0">
                  <a:latin typeface="Aptos" panose="020B0004020202020204" pitchFamily="34" charset="0"/>
                  <a:cs typeface="Arial MT"/>
                </a:rPr>
                <a:t>Adder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542799" y="4439487"/>
              <a:ext cx="1446504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dirty="0">
                  <a:latin typeface="Aptos" panose="020B0004020202020204" pitchFamily="34" charset="0"/>
                  <a:cs typeface="Arial MT"/>
                </a:rPr>
                <a:t>No immediate carry propagation</a:t>
              </a:r>
              <a:endParaRPr sz="1400" dirty="0">
                <a:latin typeface="Aptos" panose="020B0004020202020204" pitchFamily="34" charset="0"/>
                <a:cs typeface="Arial MT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066652" y="4439487"/>
              <a:ext cx="915035" cy="227435"/>
            </a:xfrm>
            <a:prstGeom prst="rect">
              <a:avLst/>
            </a:prstGeom>
          </p:spPr>
          <p:txBody>
            <a:bodyPr vert="horz" wrap="square" lIns="0" tIns="22860" rIns="0" bIns="0" rtlCol="0">
              <a:spAutoFit/>
            </a:bodyPr>
            <a:lstStyle/>
            <a:p>
              <a:pPr marL="12700" marR="5080">
                <a:lnSpc>
                  <a:spcPts val="1650"/>
                </a:lnSpc>
                <a:spcBef>
                  <a:spcPts val="180"/>
                </a:spcBef>
              </a:pPr>
              <a:r>
                <a:rPr lang="en-IN" sz="1400" dirty="0">
                  <a:latin typeface="Arial MT"/>
                  <a:cs typeface="Arial MT"/>
                </a:rPr>
                <a:t>Fast</a:t>
              </a:r>
              <a:endParaRPr sz="1400" dirty="0">
                <a:latin typeface="Arial MT"/>
                <a:cs typeface="Arial MT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10338" y="86648"/>
              <a:ext cx="4995062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400" b="1" u="sng" spc="110" dirty="0">
                  <a:solidFill>
                    <a:schemeClr val="bg1"/>
                  </a:solidFill>
                  <a:latin typeface="Aptos" panose="020B0004020202020204" pitchFamily="34" charset="0"/>
                  <a:cs typeface="Calibri"/>
                </a:rPr>
                <a:t>3. Master Comparison Table</a:t>
              </a:r>
              <a:endParaRPr lang="en-IN" sz="2400" u="sng" dirty="0">
                <a:solidFill>
                  <a:schemeClr val="bg1"/>
                </a:solidFill>
                <a:latin typeface="Aptos" panose="020B0004020202020204" pitchFamily="34" charset="0"/>
                <a:cs typeface="Calibri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1CB1672-E08F-C15E-E51E-543941D71410}"/>
                </a:ext>
              </a:extLst>
            </p:cNvPr>
            <p:cNvSpPr txBox="1"/>
            <p:nvPr/>
          </p:nvSpPr>
          <p:spPr>
            <a:xfrm>
              <a:off x="24161" y="712381"/>
              <a:ext cx="13077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u="sng" spc="-10" dirty="0">
                  <a:latin typeface="Aptos" panose="020B0004020202020204" pitchFamily="34" charset="0"/>
                  <a:cs typeface="Arial"/>
                </a:rPr>
                <a:t>Adder Type </a:t>
              </a:r>
            </a:p>
            <a:p>
              <a:endParaRPr lang="en-IN" sz="1600" u="sng" dirty="0">
                <a:latin typeface="Aptos" panose="020B00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254B56-E0A0-6EF6-F9B6-2B2D70D3C9AF}"/>
                </a:ext>
              </a:extLst>
            </p:cNvPr>
            <p:cNvSpPr txBox="1"/>
            <p:nvPr/>
          </p:nvSpPr>
          <p:spPr>
            <a:xfrm>
              <a:off x="45673" y="2925210"/>
              <a:ext cx="1646201" cy="523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8615" marR="5080" indent="-336550">
                <a:lnSpc>
                  <a:spcPts val="1650"/>
                </a:lnSpc>
                <a:spcBef>
                  <a:spcPts val="180"/>
                </a:spcBef>
                <a:buChar char="●"/>
                <a:tabLst>
                  <a:tab pos="348615" algn="l"/>
                </a:tabLst>
              </a:pPr>
              <a:r>
                <a:rPr lang="en-IN" sz="1400" dirty="0">
                  <a:latin typeface="Aptos" panose="020B0004020202020204" pitchFamily="34" charset="0"/>
                  <a:cs typeface="Arial MT"/>
                </a:rPr>
                <a:t>Carry Skip Adder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A55A488-BBC5-82FA-B3B2-6540ED6C2B3D}"/>
                </a:ext>
              </a:extLst>
            </p:cNvPr>
            <p:cNvSpPr txBox="1"/>
            <p:nvPr/>
          </p:nvSpPr>
          <p:spPr>
            <a:xfrm>
              <a:off x="5970483" y="713262"/>
              <a:ext cx="1952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u="sng" dirty="0">
                  <a:latin typeface="Aptos" panose="020B0004020202020204" pitchFamily="34" charset="0"/>
                </a:rPr>
                <a:t>Best Use Case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385D416-4234-536A-9AFA-4DE2970429C5}"/>
                </a:ext>
              </a:extLst>
            </p:cNvPr>
            <p:cNvSpPr txBox="1"/>
            <p:nvPr/>
          </p:nvSpPr>
          <p:spPr>
            <a:xfrm>
              <a:off x="7711130" y="706736"/>
              <a:ext cx="1527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u="sng" dirty="0">
                  <a:latin typeface="Aptos" panose="020B0004020202020204" pitchFamily="34" charset="0"/>
                </a:rPr>
                <a:t>Key feature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6C05DF2-7EE0-149E-803D-4383ABB1E964}"/>
                </a:ext>
              </a:extLst>
            </p:cNvPr>
            <p:cNvSpPr txBox="1"/>
            <p:nvPr/>
          </p:nvSpPr>
          <p:spPr>
            <a:xfrm>
              <a:off x="1503735" y="1259605"/>
              <a:ext cx="1752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Sequential Ripple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9F5D590-BDC6-7876-133F-1EDED805CF0F}"/>
                </a:ext>
              </a:extLst>
            </p:cNvPr>
            <p:cNvSpPr txBox="1"/>
            <p:nvPr/>
          </p:nvSpPr>
          <p:spPr>
            <a:xfrm>
              <a:off x="2989303" y="3023126"/>
              <a:ext cx="10253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Very Fast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62BA771-21C9-103F-C599-F48AF8B2842B}"/>
                </a:ext>
              </a:extLst>
            </p:cNvPr>
            <p:cNvSpPr txBox="1"/>
            <p:nvPr/>
          </p:nvSpPr>
          <p:spPr>
            <a:xfrm>
              <a:off x="-533400" y="70673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22E7535-5166-32B3-A568-EB07BD061242}"/>
                </a:ext>
              </a:extLst>
            </p:cNvPr>
            <p:cNvSpPr txBox="1"/>
            <p:nvPr/>
          </p:nvSpPr>
          <p:spPr>
            <a:xfrm>
              <a:off x="4425291" y="1254046"/>
              <a:ext cx="11493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Very low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F60CBDA-1442-8638-B89B-D9A4029BBFF6}"/>
                </a:ext>
              </a:extLst>
            </p:cNvPr>
            <p:cNvSpPr txBox="1"/>
            <p:nvPr/>
          </p:nvSpPr>
          <p:spPr>
            <a:xfrm>
              <a:off x="4553678" y="1969765"/>
              <a:ext cx="7270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High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90B46C0-0F65-BB05-D795-D1C8C5134DF6}"/>
                </a:ext>
              </a:extLst>
            </p:cNvPr>
            <p:cNvSpPr txBox="1"/>
            <p:nvPr/>
          </p:nvSpPr>
          <p:spPr>
            <a:xfrm>
              <a:off x="4474620" y="3023126"/>
              <a:ext cx="88519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Medium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0132102-7152-474A-1ACB-1C5659AE9DE8}"/>
                </a:ext>
              </a:extLst>
            </p:cNvPr>
            <p:cNvSpPr txBox="1"/>
            <p:nvPr/>
          </p:nvSpPr>
          <p:spPr>
            <a:xfrm>
              <a:off x="4533899" y="3707454"/>
              <a:ext cx="72271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High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9C51519-0DCA-F4E6-5405-EF04D45F986B}"/>
                </a:ext>
              </a:extLst>
            </p:cNvPr>
            <p:cNvSpPr txBox="1"/>
            <p:nvPr/>
          </p:nvSpPr>
          <p:spPr>
            <a:xfrm>
              <a:off x="4442552" y="4439487"/>
              <a:ext cx="83820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Medium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8016B98-F92D-676A-1936-79EE3496E352}"/>
                </a:ext>
              </a:extLst>
            </p:cNvPr>
            <p:cNvSpPr txBox="1"/>
            <p:nvPr/>
          </p:nvSpPr>
          <p:spPr>
            <a:xfrm>
              <a:off x="6065893" y="1192810"/>
              <a:ext cx="13493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Small circuits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819A1C1-D0A6-9D73-6C51-F09EA239E921}"/>
                </a:ext>
              </a:extLst>
            </p:cNvPr>
            <p:cNvSpPr txBox="1"/>
            <p:nvPr/>
          </p:nvSpPr>
          <p:spPr>
            <a:xfrm>
              <a:off x="6096000" y="2988984"/>
              <a:ext cx="19050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Medium-speed processors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1829A23-ED1D-B853-D674-84D57EF46632}"/>
                </a:ext>
              </a:extLst>
            </p:cNvPr>
            <p:cNvSpPr txBox="1"/>
            <p:nvPr/>
          </p:nvSpPr>
          <p:spPr>
            <a:xfrm>
              <a:off x="6058273" y="1969764"/>
              <a:ext cx="23380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ALUs , CPUs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7C6D208-97EA-3EDF-1555-A5666750CA4F}"/>
                </a:ext>
              </a:extLst>
            </p:cNvPr>
            <p:cNvSpPr txBox="1"/>
            <p:nvPr/>
          </p:nvSpPr>
          <p:spPr>
            <a:xfrm>
              <a:off x="6058273" y="3743360"/>
              <a:ext cx="181968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High-speed </a:t>
              </a:r>
            </a:p>
            <a:p>
              <a:r>
                <a:rPr lang="en-IN" sz="1400" dirty="0">
                  <a:latin typeface="Aptos" panose="020B0004020202020204" pitchFamily="34" charset="0"/>
                </a:rPr>
                <a:t>systems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9608060-E65D-887C-62CE-92E5DBFDE01B}"/>
                </a:ext>
              </a:extLst>
            </p:cNvPr>
            <p:cNvSpPr txBox="1"/>
            <p:nvPr/>
          </p:nvSpPr>
          <p:spPr>
            <a:xfrm>
              <a:off x="6043033" y="4436764"/>
              <a:ext cx="22006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Multipliers , DSP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A3E1222-F5B9-1771-04B9-CC99D1F177F8}"/>
                </a:ext>
              </a:extLst>
            </p:cNvPr>
            <p:cNvSpPr txBox="1"/>
            <p:nvPr/>
          </p:nvSpPr>
          <p:spPr>
            <a:xfrm>
              <a:off x="7690533" y="1213216"/>
              <a:ext cx="17526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Simple design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EB11AC1-1B2F-B0A9-9014-AC641F8AE4D5}"/>
                </a:ext>
              </a:extLst>
            </p:cNvPr>
            <p:cNvSpPr txBox="1"/>
            <p:nvPr/>
          </p:nvSpPr>
          <p:spPr>
            <a:xfrm>
              <a:off x="7690533" y="1967618"/>
              <a:ext cx="24384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Generate &amp;</a:t>
              </a:r>
            </a:p>
            <a:p>
              <a:r>
                <a:rPr lang="en-IN" sz="1400" dirty="0">
                  <a:latin typeface="Aptos" panose="020B0004020202020204" pitchFamily="34" charset="0"/>
                </a:rPr>
                <a:t> propagate logic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BC1B6CD-0E9D-D365-DAFF-6BCAF9C16CE0}"/>
                </a:ext>
              </a:extLst>
            </p:cNvPr>
            <p:cNvSpPr txBox="1"/>
            <p:nvPr/>
          </p:nvSpPr>
          <p:spPr>
            <a:xfrm>
              <a:off x="7656987" y="3021102"/>
              <a:ext cx="19831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Block-level skip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5585FF7-75EF-D4D6-58FE-8C48430EDD6C}"/>
                </a:ext>
              </a:extLst>
            </p:cNvPr>
            <p:cNvSpPr txBox="1"/>
            <p:nvPr/>
          </p:nvSpPr>
          <p:spPr>
            <a:xfrm>
              <a:off x="7711130" y="3743360"/>
              <a:ext cx="198310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MUX-based </a:t>
              </a:r>
            </a:p>
            <a:p>
              <a:r>
                <a:rPr lang="en-IN" sz="1400" dirty="0">
                  <a:latin typeface="Aptos" panose="020B0004020202020204" pitchFamily="34" charset="0"/>
                </a:rPr>
                <a:t>selection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617FB69-339B-20C9-6121-677EA4561FFB}"/>
                </a:ext>
              </a:extLst>
            </p:cNvPr>
            <p:cNvSpPr txBox="1"/>
            <p:nvPr/>
          </p:nvSpPr>
          <p:spPr>
            <a:xfrm>
              <a:off x="7653323" y="4436764"/>
              <a:ext cx="221843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400" dirty="0">
                  <a:latin typeface="Aptos" panose="020B0004020202020204" pitchFamily="34" charset="0"/>
                </a:rPr>
                <a:t>Multi-operand </a:t>
              </a:r>
            </a:p>
            <a:p>
              <a:r>
                <a:rPr lang="en-IN" sz="1400" dirty="0">
                  <a:latin typeface="Aptos" panose="020B0004020202020204" pitchFamily="34" charset="0"/>
                </a:rPr>
                <a:t>addition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A903152-3712-03DA-EC44-B0CDCA65FE30}"/>
                </a:ext>
              </a:extLst>
            </p:cNvPr>
            <p:cNvSpPr txBox="1"/>
            <p:nvPr/>
          </p:nvSpPr>
          <p:spPr>
            <a:xfrm>
              <a:off x="4800600" y="21692"/>
              <a:ext cx="449522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1400" b="1" dirty="0">
                  <a:solidFill>
                    <a:schemeClr val="tx1"/>
                  </a:solidFill>
                  <a:latin typeface="Aptos" panose="020B0004020202020204" pitchFamily="34" charset="0"/>
                  <a:cs typeface="Arial MT"/>
                </a:rPr>
                <a:t>Reference</a:t>
              </a:r>
              <a:r>
                <a:rPr lang="en-IN" sz="1400" dirty="0">
                  <a:solidFill>
                    <a:schemeClr val="tx1"/>
                  </a:solidFill>
                  <a:latin typeface="Aptos" panose="020B0004020202020204" pitchFamily="34" charset="0"/>
                  <a:cs typeface="Arial MT"/>
                </a:rPr>
                <a:t> :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M.</a:t>
              </a:r>
              <a:r>
                <a:rPr lang="it-IT" sz="1400" spc="-35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Morris</a:t>
              </a:r>
              <a:r>
                <a:rPr lang="it-IT" sz="1400" spc="-35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Mano</a:t>
              </a:r>
              <a:r>
                <a:rPr lang="it-IT" sz="1400" spc="-35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and</a:t>
              </a:r>
              <a:r>
                <a:rPr lang="it-IT" sz="1400" spc="-30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Michael</a:t>
              </a:r>
              <a:r>
                <a:rPr lang="it-IT" sz="1400" spc="-35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D.</a:t>
              </a:r>
              <a:r>
                <a:rPr lang="it-IT" sz="1400" spc="-35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dirty="0">
                  <a:solidFill>
                    <a:schemeClr val="tx1"/>
                  </a:solidFill>
                  <a:latin typeface="Arial MT"/>
                  <a:cs typeface="Arial MT"/>
                </a:rPr>
                <a:t>Ciletti,</a:t>
              </a:r>
              <a:r>
                <a:rPr lang="it-IT" sz="1400" spc="-10" dirty="0">
                  <a:solidFill>
                    <a:schemeClr val="tx1"/>
                  </a:solidFill>
                  <a:latin typeface="Arial MT"/>
                  <a:cs typeface="Arial MT"/>
                </a:rPr>
                <a:t> </a:t>
              </a:r>
              <a:r>
                <a:rPr lang="it-IT" sz="1400" i="1" dirty="0">
                  <a:solidFill>
                    <a:schemeClr val="tx1"/>
                  </a:solidFill>
                  <a:latin typeface="Arial"/>
                  <a:cs typeface="Arial"/>
                </a:rPr>
                <a:t>Digital</a:t>
              </a:r>
              <a:r>
                <a:rPr lang="it-IT" sz="1400" i="1" spc="-35" dirty="0">
                  <a:solidFill>
                    <a:schemeClr val="tx1"/>
                  </a:solidFill>
                  <a:latin typeface="Arial"/>
                  <a:cs typeface="Arial"/>
                </a:rPr>
                <a:t> </a:t>
              </a:r>
              <a:r>
                <a:rPr lang="it-IT" sz="1400" i="1" dirty="0">
                  <a:solidFill>
                    <a:schemeClr val="tx1"/>
                  </a:solidFill>
                  <a:latin typeface="Arial"/>
                  <a:cs typeface="Arial"/>
                </a:rPr>
                <a:t>Design , IBSN </a:t>
              </a:r>
              <a:r>
                <a:rPr lang="en-IN" sz="1400" dirty="0"/>
                <a:t> 9789353062019</a:t>
              </a:r>
              <a:endParaRPr lang="en-IN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775" y="169440"/>
            <a:ext cx="4998720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Arial"/>
                <a:cs typeface="Arial"/>
              </a:rPr>
              <a:t>4</a:t>
            </a:r>
            <a:r>
              <a:rPr lang="en-IN" sz="2300" b="1" dirty="0">
                <a:latin typeface="Arial"/>
                <a:cs typeface="Arial"/>
              </a:rPr>
              <a:t>.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DESIGN</a:t>
            </a:r>
            <a:r>
              <a:rPr sz="2300" b="1" spc="-1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AND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IMPLEMENTATION</a:t>
            </a:r>
            <a:endParaRPr sz="2300" dirty="0">
              <a:latin typeface="Arial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44C188-152A-6EE3-6F62-D7BFF1A1ABC2}"/>
              </a:ext>
            </a:extLst>
          </p:cNvPr>
          <p:cNvGrpSpPr/>
          <p:nvPr/>
        </p:nvGrpSpPr>
        <p:grpSpPr>
          <a:xfrm>
            <a:off x="108989" y="890347"/>
            <a:ext cx="8752656" cy="3990522"/>
            <a:chOff x="75535" y="881182"/>
            <a:chExt cx="11587368" cy="399052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B22B66-EB71-3626-4B26-4F79799D6CB5}"/>
                </a:ext>
              </a:extLst>
            </p:cNvPr>
            <p:cNvSpPr txBox="1"/>
            <p:nvPr/>
          </p:nvSpPr>
          <p:spPr>
            <a:xfrm>
              <a:off x="297373" y="881182"/>
              <a:ext cx="2357602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IN" dirty="0">
                  <a:solidFill>
                    <a:schemeClr val="tx1"/>
                  </a:solidFill>
                </a:rPr>
                <a:t>Architecture Selection 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CF8D27-2AB6-DE7C-579F-40BD15F20E54}"/>
                </a:ext>
              </a:extLst>
            </p:cNvPr>
            <p:cNvSpPr txBox="1"/>
            <p:nvPr/>
          </p:nvSpPr>
          <p:spPr>
            <a:xfrm>
              <a:off x="3760464" y="881182"/>
              <a:ext cx="2003961" cy="92333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2. RTL Design: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(Verilog in IES)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0A3FC9-07FC-466C-B380-974857F3A411}"/>
                </a:ext>
              </a:extLst>
            </p:cNvPr>
            <p:cNvSpPr txBox="1"/>
            <p:nvPr/>
          </p:nvSpPr>
          <p:spPr>
            <a:xfrm>
              <a:off x="6791006" y="881182"/>
              <a:ext cx="1964204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3. Simulation: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(</a:t>
              </a:r>
              <a:r>
                <a:rPr lang="en-IN" dirty="0" err="1">
                  <a:solidFill>
                    <a:schemeClr val="tx1"/>
                  </a:solidFill>
                </a:rPr>
                <a:t>xcelium</a:t>
              </a:r>
              <a:r>
                <a:rPr lang="en-IN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9D63D7-E5C0-55CB-6928-0F3E4F5984C1}"/>
                </a:ext>
              </a:extLst>
            </p:cNvPr>
            <p:cNvSpPr txBox="1"/>
            <p:nvPr/>
          </p:nvSpPr>
          <p:spPr>
            <a:xfrm>
              <a:off x="9413855" y="2239419"/>
              <a:ext cx="224904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4. Constraints: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(.</a:t>
              </a:r>
              <a:r>
                <a:rPr lang="en-IN" dirty="0" err="1">
                  <a:solidFill>
                    <a:schemeClr val="tx1"/>
                  </a:solidFill>
                </a:rPr>
                <a:t>sdc</a:t>
              </a:r>
              <a:r>
                <a:rPr lang="en-IN" dirty="0">
                  <a:solidFill>
                    <a:schemeClr val="tx1"/>
                  </a:solidFill>
                </a:rPr>
                <a:t> file)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1259387-423F-4A21-D5F8-BBC31FC08874}"/>
                </a:ext>
              </a:extLst>
            </p:cNvPr>
            <p:cNvSpPr txBox="1"/>
            <p:nvPr/>
          </p:nvSpPr>
          <p:spPr>
            <a:xfrm>
              <a:off x="8921504" y="4225373"/>
              <a:ext cx="1900907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5. Synthesis: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(genus)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724EFB-8572-6702-4BBC-7DDACF45097E}"/>
                </a:ext>
              </a:extLst>
            </p:cNvPr>
            <p:cNvSpPr txBox="1"/>
            <p:nvPr/>
          </p:nvSpPr>
          <p:spPr>
            <a:xfrm>
              <a:off x="4076607" y="3364054"/>
              <a:ext cx="2319878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6. </a:t>
              </a:r>
              <a:r>
                <a:rPr lang="en-IN" dirty="0"/>
                <a:t>Floorplan &amp; P&amp;R: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(innovus)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E7F833-5275-56F6-2284-905EC0713CF6}"/>
                </a:ext>
              </a:extLst>
            </p:cNvPr>
            <p:cNvSpPr txBox="1"/>
            <p:nvPr/>
          </p:nvSpPr>
          <p:spPr>
            <a:xfrm>
              <a:off x="75535" y="3944192"/>
              <a:ext cx="2195639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>
                  <a:solidFill>
                    <a:schemeClr val="tx1"/>
                  </a:solidFill>
                </a:rPr>
                <a:t>7. </a:t>
              </a:r>
              <a:r>
                <a:rPr lang="en-IN" dirty="0"/>
                <a:t>Timing &amp; Signoff: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      </a:t>
              </a:r>
            </a:p>
          </p:txBody>
        </p:sp>
        <p:cxnSp>
          <p:nvCxnSpPr>
            <p:cNvPr id="17" name="Connector: Curved 16">
              <a:extLst>
                <a:ext uri="{FF2B5EF4-FFF2-40B4-BE49-F238E27FC236}">
                  <a16:creationId xmlns:a16="http://schemas.microsoft.com/office/drawing/2014/main" id="{BBFC2981-7FF9-0DEC-D237-BE55B4B8A74B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2654975" y="1204348"/>
              <a:ext cx="1105489" cy="138499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26F9F58C-A01D-3900-8329-74C662AB633C}"/>
                </a:ext>
              </a:extLst>
            </p:cNvPr>
            <p:cNvCxnSpPr>
              <a:cxnSpLocks/>
              <a:stCxn id="11" idx="3"/>
              <a:endCxn id="12" idx="1"/>
            </p:cNvCxnSpPr>
            <p:nvPr/>
          </p:nvCxnSpPr>
          <p:spPr>
            <a:xfrm flipV="1">
              <a:off x="5764426" y="1204348"/>
              <a:ext cx="1026581" cy="138499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8CBF3E29-6C7F-858C-5580-B9D75AD2859D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8755211" y="1204348"/>
              <a:ext cx="658645" cy="1358237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CFB50296-250B-729D-42EE-47A47C3C528E}"/>
                </a:ext>
              </a:extLst>
            </p:cNvPr>
            <p:cNvCxnSpPr>
              <a:cxnSpLocks/>
              <a:stCxn id="13" idx="3"/>
              <a:endCxn id="14" idx="3"/>
            </p:cNvCxnSpPr>
            <p:nvPr/>
          </p:nvCxnSpPr>
          <p:spPr>
            <a:xfrm flipH="1">
              <a:off x="10822412" y="2562585"/>
              <a:ext cx="840491" cy="1985954"/>
            </a:xfrm>
            <a:prstGeom prst="curvedConnector3">
              <a:avLst>
                <a:gd name="adj1" fmla="val -36007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346981B9-802D-35CC-D8C2-2E6CBCA70E0B}"/>
                </a:ext>
              </a:extLst>
            </p:cNvPr>
            <p:cNvCxnSpPr>
              <a:cxnSpLocks/>
              <a:stCxn id="14" idx="1"/>
              <a:endCxn id="15" idx="3"/>
            </p:cNvCxnSpPr>
            <p:nvPr/>
          </p:nvCxnSpPr>
          <p:spPr>
            <a:xfrm rot="10800000">
              <a:off x="6396484" y="3687221"/>
              <a:ext cx="2525020" cy="861319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4176124F-ABC9-8F38-798F-23A30F0848BA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rot="10800000" flipV="1">
              <a:off x="2271175" y="3687220"/>
              <a:ext cx="1805433" cy="580138"/>
            </a:xfrm>
            <a:prstGeom prst="curvedConnector3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9B349553-E2C4-B679-964E-C18BF58BF217}"/>
              </a:ext>
            </a:extLst>
          </p:cNvPr>
          <p:cNvSpPr txBox="1"/>
          <p:nvPr/>
        </p:nvSpPr>
        <p:spPr>
          <a:xfrm>
            <a:off x="-25190" y="4856660"/>
            <a:ext cx="45757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200" spc="-3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200" spc="-35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200" spc="-10" dirty="0">
                <a:solidFill>
                  <a:schemeClr val="bg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200" i="1" spc="-35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200" i="1" dirty="0">
                <a:solidFill>
                  <a:schemeClr val="bg1"/>
                </a:solidFill>
                <a:latin typeface="Aptos" panose="020B0004020202020204" pitchFamily="34" charset="0"/>
                <a:cs typeface="Arial"/>
              </a:rPr>
              <a:t>Design</a:t>
            </a:r>
            <a:endParaRPr lang="en-IN" sz="1200" dirty="0">
              <a:solidFill>
                <a:schemeClr val="bg1"/>
              </a:solidFill>
              <a:latin typeface="Aptos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B8B5-A5F6-0EA0-C399-C163523C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430887"/>
          </a:xfrm>
        </p:spPr>
        <p:txBody>
          <a:bodyPr/>
          <a:lstStyle/>
          <a:p>
            <a:r>
              <a:rPr lang="en-IN" sz="2800" b="1" dirty="0">
                <a:latin typeface="Aptos" panose="020B0004020202020204" pitchFamily="34" charset="0"/>
              </a:rPr>
              <a:t>5.  Architecture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6A7FB19-3CCC-88A0-459A-D8806F8EFF8E}"/>
              </a:ext>
            </a:extLst>
          </p:cNvPr>
          <p:cNvGrpSpPr/>
          <p:nvPr/>
        </p:nvGrpSpPr>
        <p:grpSpPr>
          <a:xfrm>
            <a:off x="57338" y="251956"/>
            <a:ext cx="9029324" cy="4639588"/>
            <a:chOff x="-2132" y="285075"/>
            <a:chExt cx="9029324" cy="46395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6E01A6-994F-D20C-ADE1-489A49E72A17}"/>
                </a:ext>
              </a:extLst>
            </p:cNvPr>
            <p:cNvSpPr/>
            <p:nvPr/>
          </p:nvSpPr>
          <p:spPr>
            <a:xfrm>
              <a:off x="533400" y="3357208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095FBD-FE9E-BF19-4DF9-EE696C9AB4C4}"/>
                </a:ext>
              </a:extLst>
            </p:cNvPr>
            <p:cNvSpPr/>
            <p:nvPr/>
          </p:nvSpPr>
          <p:spPr>
            <a:xfrm>
              <a:off x="2338267" y="3357208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089A11-4085-3E89-A412-707ED6E8B06A}"/>
                </a:ext>
              </a:extLst>
            </p:cNvPr>
            <p:cNvSpPr/>
            <p:nvPr/>
          </p:nvSpPr>
          <p:spPr>
            <a:xfrm>
              <a:off x="4167065" y="3333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973C29B-BA0E-B845-7266-65C520AA87D5}"/>
                </a:ext>
              </a:extLst>
            </p:cNvPr>
            <p:cNvSpPr/>
            <p:nvPr/>
          </p:nvSpPr>
          <p:spPr>
            <a:xfrm>
              <a:off x="5995863" y="3333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961754-0707-548C-0F12-8454E0243D95}"/>
                </a:ext>
              </a:extLst>
            </p:cNvPr>
            <p:cNvSpPr/>
            <p:nvPr/>
          </p:nvSpPr>
          <p:spPr>
            <a:xfrm>
              <a:off x="1547935" y="1428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02F858-6FDB-D74B-46ED-D92EDDFB1EB8}"/>
                </a:ext>
              </a:extLst>
            </p:cNvPr>
            <p:cNvSpPr/>
            <p:nvPr/>
          </p:nvSpPr>
          <p:spPr>
            <a:xfrm>
              <a:off x="3352802" y="1428750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0BD069-ED5A-2ABE-FB0A-E417B2E9AEF6}"/>
                </a:ext>
              </a:extLst>
            </p:cNvPr>
            <p:cNvSpPr/>
            <p:nvPr/>
          </p:nvSpPr>
          <p:spPr>
            <a:xfrm>
              <a:off x="5181600" y="1405292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00DA19D-23C4-AE59-EA5B-2FC9ED2D8F9E}"/>
                </a:ext>
              </a:extLst>
            </p:cNvPr>
            <p:cNvSpPr/>
            <p:nvPr/>
          </p:nvSpPr>
          <p:spPr>
            <a:xfrm>
              <a:off x="7010398" y="1405292"/>
              <a:ext cx="14478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D40FDF-585D-3D82-476E-2F8E88349DB7}"/>
                </a:ext>
              </a:extLst>
            </p:cNvPr>
            <p:cNvCxnSpPr/>
            <p:nvPr/>
          </p:nvCxnSpPr>
          <p:spPr>
            <a:xfrm>
              <a:off x="2895600" y="2343150"/>
              <a:ext cx="0" cy="101405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B536936-3FC0-9238-B7A9-B7C273C41F74}"/>
                </a:ext>
              </a:extLst>
            </p:cNvPr>
            <p:cNvCxnSpPr>
              <a:cxnSpLocks/>
            </p:cNvCxnSpPr>
            <p:nvPr/>
          </p:nvCxnSpPr>
          <p:spPr>
            <a:xfrm>
              <a:off x="8077200" y="2319692"/>
              <a:ext cx="0" cy="21687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B9485B-2D9F-BF70-5434-7194F023F80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0" y="2319692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A9D222E-6E81-7490-3FC6-F6891E707686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2329964"/>
              <a:ext cx="0" cy="9876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E59979-913E-F9A7-4BD9-ADF3EBF1182E}"/>
                </a:ext>
              </a:extLst>
            </p:cNvPr>
            <p:cNvCxnSpPr>
              <a:cxnSpLocks/>
            </p:cNvCxnSpPr>
            <p:nvPr/>
          </p:nvCxnSpPr>
          <p:spPr>
            <a:xfrm>
              <a:off x="7010398" y="2823808"/>
              <a:ext cx="0" cy="5334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0A50998-4AB2-2D15-5DF0-B995BA3A9D80}"/>
                </a:ext>
              </a:extLst>
            </p:cNvPr>
            <p:cNvCxnSpPr/>
            <p:nvPr/>
          </p:nvCxnSpPr>
          <p:spPr>
            <a:xfrm>
              <a:off x="7010398" y="2839906"/>
              <a:ext cx="60960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EB68AF2-5E05-4A5E-75F9-B5833F88CBE7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2343150"/>
              <a:ext cx="0" cy="9906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58E3471-9D5F-6B63-578C-18A33DA31962}"/>
                </a:ext>
              </a:extLst>
            </p:cNvPr>
            <p:cNvCxnSpPr>
              <a:cxnSpLocks/>
            </p:cNvCxnSpPr>
            <p:nvPr/>
          </p:nvCxnSpPr>
          <p:spPr>
            <a:xfrm>
              <a:off x="5614865" y="2329964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B8A4C1-7CB3-AEF3-FE2A-95BDC3AAA748}"/>
                </a:ext>
              </a:extLst>
            </p:cNvPr>
            <p:cNvCxnSpPr/>
            <p:nvPr/>
          </p:nvCxnSpPr>
          <p:spPr>
            <a:xfrm>
              <a:off x="5005263" y="2860451"/>
              <a:ext cx="60960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31553A4-5572-CC8A-0D45-A6AACCAC1478}"/>
                </a:ext>
              </a:extLst>
            </p:cNvPr>
            <p:cNvCxnSpPr>
              <a:cxnSpLocks/>
            </p:cNvCxnSpPr>
            <p:nvPr/>
          </p:nvCxnSpPr>
          <p:spPr>
            <a:xfrm>
              <a:off x="5005263" y="2860451"/>
              <a:ext cx="0" cy="47329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862290C-9B69-034F-4CE5-6F1EF03ACCCE}"/>
                </a:ext>
              </a:extLst>
            </p:cNvPr>
            <p:cNvCxnSpPr>
              <a:cxnSpLocks/>
            </p:cNvCxnSpPr>
            <p:nvPr/>
          </p:nvCxnSpPr>
          <p:spPr>
            <a:xfrm>
              <a:off x="3757094" y="2343150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621A621-8551-C6FD-8B34-2971339F7C43}"/>
                </a:ext>
              </a:extLst>
            </p:cNvPr>
            <p:cNvCxnSpPr>
              <a:cxnSpLocks/>
            </p:cNvCxnSpPr>
            <p:nvPr/>
          </p:nvCxnSpPr>
          <p:spPr>
            <a:xfrm>
              <a:off x="3176465" y="2867732"/>
              <a:ext cx="58062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8F60FC2-BAC1-9DF4-DF98-94B77ED307BD}"/>
                </a:ext>
              </a:extLst>
            </p:cNvPr>
            <p:cNvCxnSpPr>
              <a:cxnSpLocks/>
            </p:cNvCxnSpPr>
            <p:nvPr/>
          </p:nvCxnSpPr>
          <p:spPr>
            <a:xfrm>
              <a:off x="3176465" y="2867732"/>
              <a:ext cx="0" cy="4894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C9D1E7-769D-EEC0-3F64-98786824107D}"/>
                </a:ext>
              </a:extLst>
            </p:cNvPr>
            <p:cNvCxnSpPr>
              <a:cxnSpLocks/>
            </p:cNvCxnSpPr>
            <p:nvPr/>
          </p:nvCxnSpPr>
          <p:spPr>
            <a:xfrm>
              <a:off x="1975919" y="2329964"/>
              <a:ext cx="0" cy="53048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13312AA-5461-F39B-7474-19D6AE8FE48E}"/>
                </a:ext>
              </a:extLst>
            </p:cNvPr>
            <p:cNvCxnSpPr>
              <a:cxnSpLocks/>
            </p:cNvCxnSpPr>
            <p:nvPr/>
          </p:nvCxnSpPr>
          <p:spPr>
            <a:xfrm>
              <a:off x="1395290" y="2860451"/>
              <a:ext cx="58062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D5585B5-7931-A821-2E16-BA5BB71B8025}"/>
                </a:ext>
              </a:extLst>
            </p:cNvPr>
            <p:cNvCxnSpPr>
              <a:cxnSpLocks/>
            </p:cNvCxnSpPr>
            <p:nvPr/>
          </p:nvCxnSpPr>
          <p:spPr>
            <a:xfrm>
              <a:off x="1416599" y="2844274"/>
              <a:ext cx="0" cy="4894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BEC036-8F36-6C00-5ADE-6D28683315E6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1981200" y="3814408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1D97A62-4725-3395-8FA2-9BCC84EE9C30}"/>
                </a:ext>
              </a:extLst>
            </p:cNvPr>
            <p:cNvCxnSpPr>
              <a:cxnSpLocks/>
            </p:cNvCxnSpPr>
            <p:nvPr/>
          </p:nvCxnSpPr>
          <p:spPr>
            <a:xfrm>
              <a:off x="3809998" y="3816435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C8167EE-F1B7-8CB5-450B-E47565C02379}"/>
                </a:ext>
              </a:extLst>
            </p:cNvPr>
            <p:cNvCxnSpPr>
              <a:cxnSpLocks/>
            </p:cNvCxnSpPr>
            <p:nvPr/>
          </p:nvCxnSpPr>
          <p:spPr>
            <a:xfrm>
              <a:off x="5638796" y="3818816"/>
              <a:ext cx="357067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68040F7-C90D-2134-FA1A-064E415C72FC}"/>
                </a:ext>
              </a:extLst>
            </p:cNvPr>
            <p:cNvCxnSpPr>
              <a:cxnSpLocks/>
            </p:cNvCxnSpPr>
            <p:nvPr/>
          </p:nvCxnSpPr>
          <p:spPr>
            <a:xfrm>
              <a:off x="6719763" y="4271608"/>
              <a:ext cx="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1DBAAAB-3F10-F278-B3A1-CB4EE9F25524}"/>
                </a:ext>
              </a:extLst>
            </p:cNvPr>
            <p:cNvCxnSpPr>
              <a:cxnSpLocks/>
            </p:cNvCxnSpPr>
            <p:nvPr/>
          </p:nvCxnSpPr>
          <p:spPr>
            <a:xfrm>
              <a:off x="4890840" y="4248150"/>
              <a:ext cx="125" cy="3048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DB701E9-DEB7-7D0D-1A90-C55B3F6AABDC}"/>
                </a:ext>
              </a:extLst>
            </p:cNvPr>
            <p:cNvCxnSpPr>
              <a:cxnSpLocks/>
            </p:cNvCxnSpPr>
            <p:nvPr/>
          </p:nvCxnSpPr>
          <p:spPr>
            <a:xfrm>
              <a:off x="3035849" y="4271608"/>
              <a:ext cx="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AAC32DF-D7CF-ACE9-8A24-25122D63EBFB}"/>
                </a:ext>
              </a:extLst>
            </p:cNvPr>
            <p:cNvCxnSpPr>
              <a:cxnSpLocks/>
            </p:cNvCxnSpPr>
            <p:nvPr/>
          </p:nvCxnSpPr>
          <p:spPr>
            <a:xfrm>
              <a:off x="1247650" y="4271608"/>
              <a:ext cx="9650" cy="281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E85D2B-9DC7-88D1-0053-0DDE8E8EAD8C}"/>
                </a:ext>
              </a:extLst>
            </p:cNvPr>
            <p:cNvCxnSpPr>
              <a:stCxn id="4" idx="1"/>
            </p:cNvCxnSpPr>
            <p:nvPr/>
          </p:nvCxnSpPr>
          <p:spPr>
            <a:xfrm flipH="1">
              <a:off x="152400" y="3814408"/>
              <a:ext cx="38100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5176C2C-1E3B-FE46-1E60-1C115E7E2EB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" y="3818816"/>
              <a:ext cx="0" cy="66966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0E29429-2950-2B6A-BA2D-98AF63C4F4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939304"/>
              <a:ext cx="6243513" cy="970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A67497F-59EC-697D-3106-4AB479880BF7}"/>
                </a:ext>
              </a:extLst>
            </p:cNvPr>
            <p:cNvCxnSpPr/>
            <p:nvPr/>
          </p:nvCxnSpPr>
          <p:spPr>
            <a:xfrm>
              <a:off x="2159733" y="742950"/>
              <a:ext cx="0" cy="6858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840C646-E04E-9640-4126-A42A9903E30C}"/>
                </a:ext>
              </a:extLst>
            </p:cNvPr>
            <p:cNvCxnSpPr/>
            <p:nvPr/>
          </p:nvCxnSpPr>
          <p:spPr>
            <a:xfrm>
              <a:off x="2438400" y="939304"/>
              <a:ext cx="0" cy="48944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2FD1AC57-526D-7669-1C87-AAE813F43798}"/>
                </a:ext>
              </a:extLst>
            </p:cNvPr>
            <p:cNvCxnSpPr/>
            <p:nvPr/>
          </p:nvCxnSpPr>
          <p:spPr>
            <a:xfrm>
              <a:off x="4343400" y="492735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FA461DC-E879-7E22-91BC-6062E30FDDA3}"/>
                </a:ext>
              </a:extLst>
            </p:cNvPr>
            <p:cNvCxnSpPr>
              <a:cxnSpLocks/>
            </p:cNvCxnSpPr>
            <p:nvPr/>
          </p:nvCxnSpPr>
          <p:spPr>
            <a:xfrm>
              <a:off x="3819523" y="939304"/>
              <a:ext cx="0" cy="48944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7F7784C-1150-B38E-7E0A-D085A402B42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4076702" y="734339"/>
              <a:ext cx="0" cy="6944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3066392-F998-BF99-58F4-EB2D19603DE6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939304"/>
              <a:ext cx="0" cy="4659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6AD60BA-F348-CCFC-6E71-4704F177F22A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63" y="734339"/>
              <a:ext cx="0" cy="67095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09C76CC-405B-D545-0234-E887E52D899F}"/>
                </a:ext>
              </a:extLst>
            </p:cNvPr>
            <p:cNvCxnSpPr/>
            <p:nvPr/>
          </p:nvCxnSpPr>
          <p:spPr>
            <a:xfrm>
              <a:off x="6324600" y="516193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480FB16-A8DB-B978-84DB-A55ADDFA95A6}"/>
                </a:ext>
              </a:extLst>
            </p:cNvPr>
            <p:cNvCxnSpPr>
              <a:cxnSpLocks/>
            </p:cNvCxnSpPr>
            <p:nvPr/>
          </p:nvCxnSpPr>
          <p:spPr>
            <a:xfrm>
              <a:off x="7543800" y="939304"/>
              <a:ext cx="0" cy="46598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B7F5C60-2FD6-6D24-5513-ADEEFA00EB7F}"/>
                </a:ext>
              </a:extLst>
            </p:cNvPr>
            <p:cNvCxnSpPr>
              <a:cxnSpLocks/>
            </p:cNvCxnSpPr>
            <p:nvPr/>
          </p:nvCxnSpPr>
          <p:spPr>
            <a:xfrm>
              <a:off x="7848600" y="742950"/>
              <a:ext cx="0" cy="66234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D023AB2-745F-0D9B-3ED4-B8504A22736A}"/>
                </a:ext>
              </a:extLst>
            </p:cNvPr>
            <p:cNvCxnSpPr>
              <a:cxnSpLocks/>
            </p:cNvCxnSpPr>
            <p:nvPr/>
          </p:nvCxnSpPr>
          <p:spPr>
            <a:xfrm>
              <a:off x="8153400" y="516193"/>
              <a:ext cx="0" cy="87938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E701762-4DFC-378E-C209-77EBF8C851F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33" y="734339"/>
              <a:ext cx="652218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6DF0F7B-374E-8B3B-870A-924A095F8CB5}"/>
                </a:ext>
              </a:extLst>
            </p:cNvPr>
            <p:cNvCxnSpPr>
              <a:cxnSpLocks/>
            </p:cNvCxnSpPr>
            <p:nvPr/>
          </p:nvCxnSpPr>
          <p:spPr>
            <a:xfrm>
              <a:off x="1905000" y="516193"/>
              <a:ext cx="0" cy="912557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B9FA32F-EFF5-117D-8473-78992A44C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5000" y="492735"/>
              <a:ext cx="6776913" cy="2437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E6D1659-6572-3130-7534-339FB5A91995}"/>
                </a:ext>
              </a:extLst>
            </p:cNvPr>
            <p:cNvSpPr txBox="1"/>
            <p:nvPr/>
          </p:nvSpPr>
          <p:spPr>
            <a:xfrm>
              <a:off x="8710488" y="285075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a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1CDDB57-F1DA-CC29-E565-A6DABCBB224A}"/>
                </a:ext>
              </a:extLst>
            </p:cNvPr>
            <p:cNvSpPr txBox="1"/>
            <p:nvPr/>
          </p:nvSpPr>
          <p:spPr>
            <a:xfrm>
              <a:off x="8720013" y="742990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c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292BA49-D831-F277-AD4D-1C7893E715C7}"/>
                </a:ext>
              </a:extLst>
            </p:cNvPr>
            <p:cNvSpPr txBox="1"/>
            <p:nvPr/>
          </p:nvSpPr>
          <p:spPr>
            <a:xfrm>
              <a:off x="8722394" y="545109"/>
              <a:ext cx="3047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b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248A385-3437-E79D-C543-1E5BA205A267}"/>
                </a:ext>
              </a:extLst>
            </p:cNvPr>
            <p:cNvSpPr txBox="1"/>
            <p:nvPr/>
          </p:nvSpPr>
          <p:spPr>
            <a:xfrm>
              <a:off x="1905000" y="1568792"/>
              <a:ext cx="990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F0975658-55E5-1EB2-2932-A96B21B9B829}"/>
                </a:ext>
              </a:extLst>
            </p:cNvPr>
            <p:cNvSpPr txBox="1"/>
            <p:nvPr/>
          </p:nvSpPr>
          <p:spPr>
            <a:xfrm>
              <a:off x="3712156" y="1298937"/>
              <a:ext cx="91983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N" b="1" dirty="0">
                <a:solidFill>
                  <a:schemeClr val="tx1"/>
                </a:solidFill>
                <a:latin typeface="Aptos" panose="020B0004020202020204" pitchFamily="34" charset="0"/>
              </a:endParaRPr>
            </a:p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FEA3D0F-94E1-175B-8F88-09B5485A90ED}"/>
                </a:ext>
              </a:extLst>
            </p:cNvPr>
            <p:cNvSpPr txBox="1"/>
            <p:nvPr/>
          </p:nvSpPr>
          <p:spPr>
            <a:xfrm>
              <a:off x="6172200" y="3562350"/>
              <a:ext cx="1066799" cy="533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044B176-C4A1-5011-80D2-1DD68B04D4C6}"/>
                </a:ext>
              </a:extLst>
            </p:cNvPr>
            <p:cNvSpPr txBox="1"/>
            <p:nvPr/>
          </p:nvSpPr>
          <p:spPr>
            <a:xfrm>
              <a:off x="7415087" y="1547112"/>
              <a:ext cx="110297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07B0EF9-885B-4A03-1DC9-6380DCDAE5B4}"/>
                </a:ext>
              </a:extLst>
            </p:cNvPr>
            <p:cNvSpPr txBox="1"/>
            <p:nvPr/>
          </p:nvSpPr>
          <p:spPr>
            <a:xfrm>
              <a:off x="4487700" y="3467784"/>
              <a:ext cx="10351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7E1333C-4BC2-D595-6F3D-DAE586D0C175}"/>
                </a:ext>
              </a:extLst>
            </p:cNvPr>
            <p:cNvSpPr txBox="1"/>
            <p:nvPr/>
          </p:nvSpPr>
          <p:spPr>
            <a:xfrm>
              <a:off x="6303169" y="3467783"/>
              <a:ext cx="11714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Half Adder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2C20EEE-8910-8A14-2689-A92FF97F0775}"/>
                </a:ext>
              </a:extLst>
            </p:cNvPr>
            <p:cNvSpPr txBox="1"/>
            <p:nvPr/>
          </p:nvSpPr>
          <p:spPr>
            <a:xfrm>
              <a:off x="2708615" y="3478091"/>
              <a:ext cx="111692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D2090EEC-E6C0-D40A-7342-56BC6D7CB0CC}"/>
                </a:ext>
              </a:extLst>
            </p:cNvPr>
            <p:cNvSpPr txBox="1"/>
            <p:nvPr/>
          </p:nvSpPr>
          <p:spPr>
            <a:xfrm>
              <a:off x="857787" y="3488862"/>
              <a:ext cx="11440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Half Adder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BA38A69-E896-89BC-30DD-B8DC14AB4DDB}"/>
                </a:ext>
              </a:extLst>
            </p:cNvPr>
            <p:cNvSpPr txBox="1"/>
            <p:nvPr/>
          </p:nvSpPr>
          <p:spPr>
            <a:xfrm>
              <a:off x="5459399" y="1581566"/>
              <a:ext cx="12299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Full Adder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D6C48607-FDE5-0114-0E32-3F9D7F6806F2}"/>
                </a:ext>
              </a:extLst>
            </p:cNvPr>
            <p:cNvSpPr txBox="1"/>
            <p:nvPr/>
          </p:nvSpPr>
          <p:spPr>
            <a:xfrm>
              <a:off x="-2132" y="4490860"/>
              <a:ext cx="4865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c0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97370BF7-9770-12C9-75EA-7B64C5A9B493}"/>
                </a:ext>
              </a:extLst>
            </p:cNvPr>
            <p:cNvSpPr txBox="1"/>
            <p:nvPr/>
          </p:nvSpPr>
          <p:spPr>
            <a:xfrm>
              <a:off x="1061366" y="4555331"/>
              <a:ext cx="4865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s4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602969A-255E-A601-A644-9F9F1A849A34}"/>
                </a:ext>
              </a:extLst>
            </p:cNvPr>
            <p:cNvSpPr txBox="1"/>
            <p:nvPr/>
          </p:nvSpPr>
          <p:spPr>
            <a:xfrm>
              <a:off x="4692818" y="4550734"/>
              <a:ext cx="488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s2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679AC0C-15C5-5376-11B9-39987CFEE6D1}"/>
                </a:ext>
              </a:extLst>
            </p:cNvPr>
            <p:cNvSpPr txBox="1"/>
            <p:nvPr/>
          </p:nvSpPr>
          <p:spPr>
            <a:xfrm>
              <a:off x="2829419" y="4550734"/>
              <a:ext cx="5133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s3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AD33F31-16B3-85AD-21C1-F67B12D8C8E0}"/>
                </a:ext>
              </a:extLst>
            </p:cNvPr>
            <p:cNvSpPr txBox="1"/>
            <p:nvPr/>
          </p:nvSpPr>
          <p:spPr>
            <a:xfrm>
              <a:off x="7896350" y="4513037"/>
              <a:ext cx="8467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s0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B2AA664A-16C8-7927-947C-C7DCF5D03C63}"/>
                </a:ext>
              </a:extLst>
            </p:cNvPr>
            <p:cNvSpPr txBox="1"/>
            <p:nvPr/>
          </p:nvSpPr>
          <p:spPr>
            <a:xfrm>
              <a:off x="6573911" y="4550734"/>
              <a:ext cx="4766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  <a:latin typeface="Aptos" panose="020B0004020202020204" pitchFamily="34" charset="0"/>
                </a:rPr>
                <a:t>s1</a:t>
              </a:r>
              <a:endParaRPr lang="en-IN" sz="1800" b="1" dirty="0">
                <a:solidFill>
                  <a:schemeClr val="bg1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5C400FD6-E341-D66F-1CD5-B66C121037F5}"/>
              </a:ext>
            </a:extLst>
          </p:cNvPr>
          <p:cNvSpPr txBox="1"/>
          <p:nvPr/>
        </p:nvSpPr>
        <p:spPr>
          <a:xfrm>
            <a:off x="-45329" y="4833845"/>
            <a:ext cx="91198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 panose="020B0004020202020204" pitchFamily="34" charset="0"/>
              </a:rPr>
              <a:t>Reference - Low Power and Area Efficient Carry Save Adder Based on Static 125nm CMOS Technology , </a:t>
            </a:r>
            <a:r>
              <a:rPr lang="en-IN" sz="1100" b="1" u="sng" dirty="0">
                <a:solidFill>
                  <a:schemeClr val="bg1"/>
                </a:solidFill>
                <a:latin typeface="Aptos" panose="020B0004020202020204" pitchFamily="34" charset="0"/>
              </a:rPr>
              <a:t>G. Naveen Balaj</a:t>
            </a:r>
            <a:r>
              <a:rPr lang="en-IN" sz="1100" b="1" dirty="0">
                <a:solidFill>
                  <a:schemeClr val="bg1"/>
                </a:solidFill>
                <a:latin typeface="Aptos" panose="020B0004020202020204" pitchFamily="34" charset="0"/>
              </a:rPr>
              <a:t>  , </a:t>
            </a:r>
            <a:r>
              <a:rPr lang="en-IN" sz="1100" b="1" u="sng" dirty="0">
                <a:solidFill>
                  <a:schemeClr val="bg1"/>
                </a:solidFill>
              </a:rPr>
              <a:t>M. Ishwarya</a:t>
            </a:r>
            <a:r>
              <a:rPr lang="en-IN" sz="1100" b="1" u="sng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563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6. BASIC OPERATION OF CARRY SAVE ADDER</a:t>
            </a:r>
            <a:endParaRPr sz="2100" b="1" dirty="0">
              <a:latin typeface="Aptos" panose="020B00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4145" y="718821"/>
            <a:ext cx="7879937" cy="440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CSA adds three binary numbers simultaneously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Uses parallel full adders at each bit position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Generates two intermediate outputs: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 → Sum vector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  → Carry vector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Carry is not propagated immediately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Carry vector is shifted left by one bit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• Final result obtained using a carry-propagate adder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For each bit i: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Sum(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  =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⊕ 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⊕ 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Carry(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=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+ B(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 + A(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)C(</a:t>
            </a:r>
            <a:r>
              <a:rPr lang="en-US" sz="1600" dirty="0" err="1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solidFill>
                  <a:schemeClr val="tx1"/>
                </a:solidFill>
                <a:latin typeface="Arial"/>
                <a:cs typeface="Arial"/>
              </a:rPr>
              <a:t>Final Output = Sum + (Carry &lt;&lt; 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44F06B-E67F-A604-81E6-45C1DC6664D6}"/>
              </a:ext>
            </a:extLst>
          </p:cNvPr>
          <p:cNvSpPr txBox="1"/>
          <p:nvPr/>
        </p:nvSpPr>
        <p:spPr>
          <a:xfrm>
            <a:off x="-37171" y="4620280"/>
            <a:ext cx="899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4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Design: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With</a:t>
            </a:r>
            <a:r>
              <a:rPr lang="en-US" sz="1400" i="1" spc="-3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an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spc="-1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Introduction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to</a:t>
            </a:r>
            <a:r>
              <a:rPr lang="en-US" sz="1400" i="1" spc="-3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the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Verilog</a:t>
            </a:r>
            <a:r>
              <a:rPr lang="en-US" sz="14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400" i="1" spc="-20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HDL</a:t>
            </a:r>
            <a:r>
              <a:rPr lang="en-US" sz="1400" spc="-2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5th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Edition,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Pearson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Education,</a:t>
            </a:r>
            <a:r>
              <a:rPr lang="en-US" sz="14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2013.</a:t>
            </a:r>
            <a:r>
              <a:rPr lang="en-US" sz="1400" spc="8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&amp;</a:t>
            </a:r>
            <a:r>
              <a:rPr lang="en-US" sz="14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4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Google</a:t>
            </a:r>
            <a:r>
              <a:rPr lang="it-IT" sz="14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, IBSN </a:t>
            </a:r>
            <a:r>
              <a:rPr lang="en-IN" sz="1400" dirty="0">
                <a:solidFill>
                  <a:schemeClr val="tx1"/>
                </a:solidFill>
                <a:latin typeface="Aptos" panose="020B0004020202020204" pitchFamily="34" charset="0"/>
              </a:rPr>
              <a:t> 9789353062019</a:t>
            </a:r>
            <a:endParaRPr lang="en-IN" sz="1400" dirty="0">
              <a:solidFill>
                <a:schemeClr val="tx1"/>
              </a:solidFill>
              <a:latin typeface="Aptos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CD2D-0B77-19BA-B4CD-D7F0B5A6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F89116D-16A0-259B-D049-AA81FCBA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0" y="-52823"/>
            <a:ext cx="8103250" cy="738664"/>
          </a:xfrm>
        </p:spPr>
        <p:txBody>
          <a:bodyPr/>
          <a:lstStyle/>
          <a:p>
            <a:r>
              <a:rPr lang="en-IN" sz="2400" b="1" dirty="0"/>
              <a:t>7. Performance Parameters and Expected Outputs</a:t>
            </a:r>
            <a:br>
              <a:rPr lang="en-IN" sz="2400" b="1" dirty="0"/>
            </a:b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68B415-8CBA-161C-A795-19091023D802}"/>
              </a:ext>
            </a:extLst>
          </p:cNvPr>
          <p:cNvSpPr txBox="1"/>
          <p:nvPr/>
        </p:nvSpPr>
        <p:spPr>
          <a:xfrm>
            <a:off x="0" y="666750"/>
            <a:ext cx="33528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Throughput 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Latency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Propagation delay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 Area utilization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Accuracy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Power Consumption </a:t>
            </a: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0AE1EF-FB69-A4DE-7484-4BA836C165F8}"/>
              </a:ext>
            </a:extLst>
          </p:cNvPr>
          <p:cNvSpPr txBox="1"/>
          <p:nvPr/>
        </p:nvSpPr>
        <p:spPr>
          <a:xfrm>
            <a:off x="2590800" y="704931"/>
            <a:ext cx="510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Number of valid outputs produced per clock cycle.</a:t>
            </a:r>
          </a:p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1 output every clock cycle.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F607E2-9367-BD71-073F-E9B1D0DD0A3C}"/>
              </a:ext>
            </a:extLst>
          </p:cNvPr>
          <p:cNvSpPr txBox="1"/>
          <p:nvPr/>
        </p:nvSpPr>
        <p:spPr>
          <a:xfrm>
            <a:off x="2590800" y="1506873"/>
            <a:ext cx="5769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total number of cycles it takes from input to output.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 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  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2-3 cycles.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7D538-6E6F-DFA0-9AB8-20C1A36FB699}"/>
              </a:ext>
            </a:extLst>
          </p:cNvPr>
          <p:cNvSpPr txBox="1"/>
          <p:nvPr/>
        </p:nvSpPr>
        <p:spPr>
          <a:xfrm>
            <a:off x="2667000" y="4653694"/>
            <a:ext cx="495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power consumed due to switching activity 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Lower than RCA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9B48EE-C692-0393-DBA0-8064E7EAECA7}"/>
              </a:ext>
            </a:extLst>
          </p:cNvPr>
          <p:cNvSpPr txBox="1"/>
          <p:nvPr/>
        </p:nvSpPr>
        <p:spPr>
          <a:xfrm>
            <a:off x="2667000" y="3134308"/>
            <a:ext cx="563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The total chip space used by circuit</a:t>
            </a:r>
          </a:p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      Expected output  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Efficient but slight higher than RCA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B0EDC7-4231-2D3C-15EC-52CAEAD5F59B}"/>
              </a:ext>
            </a:extLst>
          </p:cNvPr>
          <p:cNvSpPr txBox="1"/>
          <p:nvPr/>
        </p:nvSpPr>
        <p:spPr>
          <a:xfrm>
            <a:off x="2667000" y="3989583"/>
            <a:ext cx="5894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:- </a:t>
            </a: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Correctness of computed output </a:t>
            </a:r>
          </a:p>
          <a:p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        Expected output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  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Bit accurate output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3B5A30-A655-250D-9A3C-1ECAA0D17969}"/>
              </a:ext>
            </a:extLst>
          </p:cNvPr>
          <p:cNvSpPr txBox="1"/>
          <p:nvPr/>
        </p:nvSpPr>
        <p:spPr>
          <a:xfrm>
            <a:off x="2590800" y="2418422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Aptos" panose="020B0004020202020204" pitchFamily="34" charset="0"/>
              </a:rPr>
              <a:t>:-</a:t>
            </a:r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Time required for arithmetic operation</a:t>
            </a:r>
          </a:p>
          <a:p>
            <a:r>
              <a:rPr lang="en-US" sz="1400" dirty="0">
                <a:solidFill>
                  <a:schemeClr val="bg1"/>
                </a:solidFill>
                <a:latin typeface="Aptos" panose="020B0004020202020204" pitchFamily="34" charset="0"/>
              </a:rPr>
              <a:t>       Expected output </a:t>
            </a:r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:-  Lower than ripple carry adder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4C3360-3005-7E79-10DC-23D6AA5C445E}"/>
              </a:ext>
            </a:extLst>
          </p:cNvPr>
          <p:cNvSpPr txBox="1"/>
          <p:nvPr/>
        </p:nvSpPr>
        <p:spPr>
          <a:xfrm>
            <a:off x="7162800" y="789861"/>
            <a:ext cx="2133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CSA parallel addition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Mohideen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Ramkumar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  Ramkumar et al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IEEE CSA Design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Standard CSA Theory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E75126-AB0F-A134-49C1-5264B87C3B30}"/>
              </a:ext>
            </a:extLst>
          </p:cNvPr>
          <p:cNvSpPr txBox="1"/>
          <p:nvPr/>
        </p:nvSpPr>
        <p:spPr>
          <a:xfrm>
            <a:off x="7288246" y="350084"/>
            <a:ext cx="127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Source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F446E-F78E-5B92-B90E-7A452584A13E}"/>
              </a:ext>
            </a:extLst>
          </p:cNvPr>
          <p:cNvSpPr txBox="1"/>
          <p:nvPr/>
        </p:nvSpPr>
        <p:spPr>
          <a:xfrm>
            <a:off x="3429000" y="37385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43D54-65A7-0817-D4A2-D59FFBB702C3}"/>
              </a:ext>
            </a:extLst>
          </p:cNvPr>
          <p:cNvSpPr txBox="1"/>
          <p:nvPr/>
        </p:nvSpPr>
        <p:spPr>
          <a:xfrm>
            <a:off x="495300" y="35008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chemeClr val="bg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396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>
              <a:lnSpc>
                <a:spcPct val="100000"/>
              </a:lnSpc>
              <a:spcBef>
                <a:spcPts val="100"/>
              </a:spcBef>
            </a:pPr>
            <a:r>
              <a:rPr sz="2200" spc="65" dirty="0">
                <a:solidFill>
                  <a:srgbClr val="000000"/>
                </a:solidFill>
              </a:rPr>
              <a:t>Advantages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6182341" y="141282"/>
            <a:ext cx="1455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0" dirty="0">
                <a:solidFill>
                  <a:srgbClr val="FFFAF0"/>
                </a:solidFill>
                <a:latin typeface="Calibri"/>
                <a:cs typeface="Calibri"/>
              </a:rPr>
              <a:t>Applications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424" y="697805"/>
            <a:ext cx="403034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858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60" dirty="0">
                <a:latin typeface="Calibri"/>
                <a:cs typeface="Calibri"/>
              </a:rPr>
              <a:t>Eliminates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80" dirty="0">
                <a:latin typeface="Calibri"/>
                <a:cs typeface="Calibri"/>
              </a:rPr>
              <a:t>carry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propagation</a:t>
            </a:r>
            <a:r>
              <a:rPr sz="1800" spc="1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during </a:t>
            </a:r>
            <a:r>
              <a:rPr sz="1800" dirty="0">
                <a:latin typeface="Calibri"/>
                <a:cs typeface="Calibri"/>
              </a:rPr>
              <a:t>intermediate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addition</a:t>
            </a:r>
            <a:r>
              <a:rPr sz="1800" spc="204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stages.</a:t>
            </a:r>
            <a:endParaRPr sz="1800" dirty="0">
              <a:latin typeface="Calibri"/>
              <a:cs typeface="Calibri"/>
            </a:endParaRPr>
          </a:p>
          <a:p>
            <a:pPr marL="379095" marR="8324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Provides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very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60" dirty="0">
                <a:latin typeface="Calibri"/>
                <a:cs typeface="Calibri"/>
              </a:rPr>
              <a:t>high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speed</a:t>
            </a:r>
            <a:r>
              <a:rPr sz="1800" spc="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multi-operand</a:t>
            </a:r>
            <a:r>
              <a:rPr sz="1800" spc="3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addition.</a:t>
            </a:r>
            <a:endParaRPr sz="1800" dirty="0">
              <a:latin typeface="Calibri"/>
              <a:cs typeface="Calibri"/>
            </a:endParaRPr>
          </a:p>
          <a:p>
            <a:pPr marL="379095" marR="10858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0" dirty="0">
                <a:latin typeface="Calibri"/>
                <a:cs typeface="Calibri"/>
              </a:rPr>
              <a:t>Addition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70" dirty="0">
                <a:latin typeface="Calibri"/>
                <a:cs typeface="Calibri"/>
              </a:rPr>
              <a:t>is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independent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0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number</a:t>
            </a:r>
            <a:r>
              <a:rPr sz="1800" spc="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bits.</a:t>
            </a:r>
            <a:endParaRPr sz="1800" dirty="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latin typeface="Calibri"/>
                <a:cs typeface="Calibri"/>
              </a:rPr>
              <a:t>Reduces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3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delay</a:t>
            </a:r>
            <a:r>
              <a:rPr sz="1800" spc="2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compared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Ripple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120" dirty="0">
                <a:latin typeface="Calibri"/>
                <a:cs typeface="Calibri"/>
              </a:rPr>
              <a:t>Carry</a:t>
            </a:r>
            <a:r>
              <a:rPr sz="1800" spc="100" dirty="0">
                <a:latin typeface="Calibri"/>
                <a:cs typeface="Calibri"/>
              </a:rPr>
              <a:t> </a:t>
            </a:r>
            <a:r>
              <a:rPr sz="1800" spc="55" dirty="0">
                <a:latin typeface="Calibri"/>
                <a:cs typeface="Calibri"/>
              </a:rPr>
              <a:t>Adder.</a:t>
            </a:r>
            <a:endParaRPr sz="1800" dirty="0">
              <a:latin typeface="Calibri"/>
              <a:cs typeface="Calibri"/>
            </a:endParaRPr>
          </a:p>
          <a:p>
            <a:pPr marL="379095" marR="2940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latin typeface="Calibri"/>
                <a:cs typeface="Calibri"/>
              </a:rPr>
              <a:t>Efficiently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handles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spc="50" dirty="0">
                <a:latin typeface="Calibri"/>
                <a:cs typeface="Calibri"/>
              </a:rPr>
              <a:t>large</a:t>
            </a:r>
            <a:r>
              <a:rPr sz="1800" spc="2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bit-</a:t>
            </a:r>
            <a:r>
              <a:rPr sz="1800" spc="40" dirty="0">
                <a:latin typeface="Calibri"/>
                <a:cs typeface="Calibri"/>
              </a:rPr>
              <a:t>width </a:t>
            </a:r>
            <a:r>
              <a:rPr sz="1800" dirty="0">
                <a:latin typeface="Calibri"/>
                <a:cs typeface="Calibri"/>
              </a:rPr>
              <a:t>arithmetic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9474" y="697881"/>
            <a:ext cx="3996690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46710" indent="-367030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Implemented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60" dirty="0">
                <a:solidFill>
                  <a:srgbClr val="FFFAF0"/>
                </a:solidFill>
                <a:latin typeface="Calibri"/>
                <a:cs typeface="Calibri"/>
              </a:rPr>
              <a:t>Arithmetic</a:t>
            </a:r>
            <a:r>
              <a:rPr sz="1800" spc="1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Logic </a:t>
            </a:r>
            <a:r>
              <a:rPr sz="1800" spc="90" dirty="0">
                <a:solidFill>
                  <a:srgbClr val="FFFAF0"/>
                </a:solidFill>
                <a:latin typeface="Calibri"/>
                <a:cs typeface="Calibri"/>
              </a:rPr>
              <a:t>Units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200" dirty="0">
                <a:solidFill>
                  <a:srgbClr val="FFFAF0"/>
                </a:solidFill>
                <a:latin typeface="Calibri"/>
                <a:cs typeface="Calibri"/>
              </a:rPr>
              <a:t>(ALUs)</a:t>
            </a:r>
            <a:r>
              <a:rPr sz="1800" spc="1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of</a:t>
            </a:r>
            <a:r>
              <a:rPr sz="1800" spc="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processors.</a:t>
            </a:r>
            <a:endParaRPr sz="1800">
              <a:latin typeface="Calibri"/>
              <a:cs typeface="Calibri"/>
            </a:endParaRPr>
          </a:p>
          <a:p>
            <a:pPr marL="379095" marR="50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26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0" dirty="0">
                <a:solidFill>
                  <a:srgbClr val="FFFAF0"/>
                </a:solidFill>
                <a:latin typeface="Calibri"/>
                <a:cs typeface="Calibri"/>
              </a:rPr>
              <a:t>multiply–accumulate</a:t>
            </a:r>
            <a:r>
              <a:rPr sz="1800" spc="26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120" dirty="0">
                <a:solidFill>
                  <a:srgbClr val="FFFAF0"/>
                </a:solidFill>
                <a:latin typeface="Calibri"/>
                <a:cs typeface="Calibri"/>
              </a:rPr>
              <a:t>(MAC)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units.</a:t>
            </a:r>
            <a:endParaRPr sz="1800">
              <a:latin typeface="Calibri"/>
              <a:cs typeface="Calibri"/>
            </a:endParaRPr>
          </a:p>
          <a:p>
            <a:pPr marL="379095" marR="154305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3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floating-point</a:t>
            </a:r>
            <a:r>
              <a:rPr sz="1800" spc="34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arithmetic units.</a:t>
            </a:r>
            <a:endParaRPr sz="1800">
              <a:latin typeface="Calibri"/>
              <a:cs typeface="Calibri"/>
            </a:endParaRPr>
          </a:p>
          <a:p>
            <a:pPr marL="379095" indent="-366395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Applied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accumulator</a:t>
            </a:r>
            <a:r>
              <a:rPr sz="1800" spc="30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40" dirty="0">
                <a:solidFill>
                  <a:srgbClr val="FFFAF0"/>
                </a:solidFill>
                <a:latin typeface="Calibri"/>
                <a:cs typeface="Calibri"/>
              </a:rPr>
              <a:t>circuits.</a:t>
            </a:r>
            <a:endParaRPr sz="1800">
              <a:latin typeface="Calibri"/>
              <a:cs typeface="Calibri"/>
            </a:endParaRPr>
          </a:p>
          <a:p>
            <a:pPr marL="379095" marR="68580" indent="-367030">
              <a:lnSpc>
                <a:spcPct val="100000"/>
              </a:lnSpc>
              <a:spcBef>
                <a:spcPts val="2160"/>
              </a:spcBef>
              <a:buFont typeface="Arial MT"/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Used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in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0" dirty="0">
                <a:solidFill>
                  <a:srgbClr val="FFFAF0"/>
                </a:solidFill>
                <a:latin typeface="Calibri"/>
                <a:cs typeface="Calibri"/>
              </a:rPr>
              <a:t>digital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systems</a:t>
            </a:r>
            <a:r>
              <a:rPr sz="1800" spc="19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where</a:t>
            </a:r>
            <a:r>
              <a:rPr sz="1800" spc="195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55" dirty="0">
                <a:solidFill>
                  <a:srgbClr val="FFFAF0"/>
                </a:solidFill>
                <a:latin typeface="Calibri"/>
                <a:cs typeface="Calibri"/>
              </a:rPr>
              <a:t>carry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delay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must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AF0"/>
                </a:solidFill>
                <a:latin typeface="Calibri"/>
                <a:cs typeface="Calibri"/>
              </a:rPr>
              <a:t>be</a:t>
            </a:r>
            <a:r>
              <a:rPr sz="1800" spc="130" dirty="0">
                <a:solidFill>
                  <a:srgbClr val="FFFA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AF0"/>
                </a:solidFill>
                <a:latin typeface="Calibri"/>
                <a:cs typeface="Calibri"/>
              </a:rPr>
              <a:t>minimized.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2174" y="4298395"/>
            <a:ext cx="138430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spc="-770" dirty="0">
                <a:solidFill>
                  <a:srgbClr val="FFFAF0"/>
                </a:solidFill>
                <a:latin typeface="Arial MT"/>
                <a:cs typeface="Arial MT"/>
              </a:rPr>
              <a:t>●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43862" y="4230912"/>
            <a:ext cx="873125" cy="565150"/>
            <a:chOff x="4943862" y="4230912"/>
            <a:chExt cx="873125" cy="565150"/>
          </a:xfrm>
        </p:grpSpPr>
        <p:sp>
          <p:nvSpPr>
            <p:cNvPr id="8" name="object 8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863399" y="554999"/>
                  </a:moveTo>
                  <a:lnTo>
                    <a:pt x="0" y="554999"/>
                  </a:lnTo>
                  <a:lnTo>
                    <a:pt x="0" y="0"/>
                  </a:lnTo>
                  <a:lnTo>
                    <a:pt x="863399" y="0"/>
                  </a:lnTo>
                  <a:lnTo>
                    <a:pt x="863399" y="554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48625" y="4235674"/>
              <a:ext cx="863600" cy="555625"/>
            </a:xfrm>
            <a:custGeom>
              <a:avLst/>
              <a:gdLst/>
              <a:ahLst/>
              <a:cxnLst/>
              <a:rect l="l" t="t" r="r" b="b"/>
              <a:pathLst>
                <a:path w="863600" h="555625">
                  <a:moveTo>
                    <a:pt x="0" y="0"/>
                  </a:moveTo>
                  <a:lnTo>
                    <a:pt x="863399" y="0"/>
                  </a:lnTo>
                  <a:lnTo>
                    <a:pt x="863399" y="554999"/>
                  </a:lnTo>
                  <a:lnTo>
                    <a:pt x="0" y="554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7AAA716-DDB8-8470-9D43-FE8568598336}"/>
              </a:ext>
            </a:extLst>
          </p:cNvPr>
          <p:cNvSpPr txBox="1"/>
          <p:nvPr/>
        </p:nvSpPr>
        <p:spPr>
          <a:xfrm>
            <a:off x="0" y="4827718"/>
            <a:ext cx="4426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Reference</a:t>
            </a:r>
            <a:r>
              <a:rPr lang="en-IN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: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M.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Morris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Mano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and</a:t>
            </a:r>
            <a:r>
              <a:rPr lang="en-US" sz="1200" spc="-3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Michael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D.</a:t>
            </a:r>
            <a:r>
              <a:rPr lang="en-US" sz="1200" spc="-35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Ciletti,</a:t>
            </a:r>
            <a:r>
              <a:rPr lang="en-US" sz="1200" spc="-10" dirty="0">
                <a:solidFill>
                  <a:schemeClr val="tx1"/>
                </a:solidFill>
                <a:latin typeface="Aptos" panose="020B0004020202020204" pitchFamily="34" charset="0"/>
                <a:cs typeface="Arial MT"/>
              </a:rPr>
              <a:t> </a:t>
            </a:r>
            <a:r>
              <a:rPr lang="en-US" sz="12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Digital</a:t>
            </a:r>
            <a:r>
              <a:rPr lang="en-US" sz="1200" i="1" spc="-35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1200" i="1" dirty="0">
                <a:solidFill>
                  <a:schemeClr val="tx1"/>
                </a:solidFill>
                <a:latin typeface="Aptos" panose="020B0004020202020204" pitchFamily="34" charset="0"/>
                <a:cs typeface="Arial"/>
              </a:rPr>
              <a:t>Design</a:t>
            </a:r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7B7CC-8018-5BD4-20D0-78C03FF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B8C5F-FB62-1B6F-9C3B-E840F41ED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9.  Timeline</a:t>
            </a:r>
            <a:endParaRPr sz="2100" b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2D4F0A-304E-3246-05FB-3B43DCBE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93934"/>
              </p:ext>
            </p:extLst>
          </p:nvPr>
        </p:nvGraphicFramePr>
        <p:xfrm>
          <a:off x="202550" y="742950"/>
          <a:ext cx="8865250" cy="41910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556">
                  <a:extLst>
                    <a:ext uri="{9D8B030D-6E8A-4147-A177-3AD203B41FA5}">
                      <a16:colId xmlns:a16="http://schemas.microsoft.com/office/drawing/2014/main" val="1164084021"/>
                    </a:ext>
                  </a:extLst>
                </a:gridCol>
                <a:gridCol w="6796694">
                  <a:extLst>
                    <a:ext uri="{9D8B030D-6E8A-4147-A177-3AD203B41FA5}">
                      <a16:colId xmlns:a16="http://schemas.microsoft.com/office/drawing/2014/main" val="832724658"/>
                    </a:ext>
                  </a:extLst>
                </a:gridCol>
              </a:tblGrid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Week 1   :-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Finalize Carry Save Adder specs, architecture selection , planning</a:t>
                      </a:r>
                      <a:endParaRPr lang="en-IN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0817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2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modular Verilog (pre-computer, SA_unit, top module)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1652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3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Build testbench, run behavioral simulation in Vivado/Xcelium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41386"/>
                  </a:ext>
                </a:extLst>
              </a:tr>
              <a:tr h="383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4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Functional verification, debug, waveform analysis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9653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5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SDC constraints (timing, I/O), prepare for synthesis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9738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6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Synthesize in Cadence Genus (with DFT/scan), review area/timing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1791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7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Floor-planning and power planning in Innovus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2999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8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Placement, clock tree synthesis (CTS), signal routing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54493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9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Timing Analysis (STA), IR drop checks, power/area reporting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21106"/>
                  </a:ext>
                </a:extLst>
              </a:tr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10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GDSII generation, documentation, PPT/report preparation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8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399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5746135" cy="633977"/>
          </a:xfrm>
          <a:prstGeom prst="rect">
            <a:avLst/>
          </a:prstGeom>
        </p:spPr>
        <p:txBody>
          <a:bodyPr vert="horz" wrap="square" lIns="0" tIns="201126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00"/>
              </a:spcBef>
            </a:pPr>
            <a:r>
              <a:rPr lang="en-IN" sz="2800" b="1" spc="45" dirty="0">
                <a:latin typeface="Aptos" panose="020B0004020202020204" pitchFamily="34" charset="0"/>
              </a:rPr>
              <a:t>10. </a:t>
            </a:r>
            <a:r>
              <a:rPr sz="2800" b="1" spc="45" dirty="0">
                <a:latin typeface="Aptos" panose="020B0004020202020204" pitchFamily="34" charset="0"/>
              </a:rPr>
              <a:t>Conclusion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F1A740-3294-A437-9DFD-998DA0CD0323}"/>
              </a:ext>
            </a:extLst>
          </p:cNvPr>
          <p:cNvGrpSpPr/>
          <p:nvPr/>
        </p:nvGrpSpPr>
        <p:grpSpPr>
          <a:xfrm>
            <a:off x="157208" y="971550"/>
            <a:ext cx="8513152" cy="3856861"/>
            <a:chOff x="281354" y="902376"/>
            <a:chExt cx="11774811" cy="653105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FA7511-794B-9E35-ABC8-5FBF89710DFA}"/>
                </a:ext>
              </a:extLst>
            </p:cNvPr>
            <p:cNvSpPr txBox="1"/>
            <p:nvPr/>
          </p:nvSpPr>
          <p:spPr>
            <a:xfrm>
              <a:off x="281354" y="902376"/>
              <a:ext cx="3004457" cy="265800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Parallel Addition Efficiency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The CSA performs multi-operand addition using parallel full adders, eliminating carry propagation in intermediate stages and improving computational speed.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2D8440-847F-274D-3108-E007894D9503}"/>
                </a:ext>
              </a:extLst>
            </p:cNvPr>
            <p:cNvSpPr txBox="1"/>
            <p:nvPr/>
          </p:nvSpPr>
          <p:spPr>
            <a:xfrm>
              <a:off x="4392804" y="2841369"/>
              <a:ext cx="3213797" cy="23452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Modular and Scalable Design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The three-block architecture (adder array, carry alignment, and final adder) ensures a modular RTL design that can be easily scaled for higher bit widths.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280A81D-E987-8237-DCFF-2E265E56CC3D}"/>
                </a:ext>
              </a:extLst>
            </p:cNvPr>
            <p:cNvSpPr txBox="1"/>
            <p:nvPr/>
          </p:nvSpPr>
          <p:spPr>
            <a:xfrm>
              <a:off x="8593015" y="5088137"/>
              <a:ext cx="3463150" cy="23452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latin typeface="Aptos" panose="020B0004020202020204" pitchFamily="34" charset="0"/>
                </a:rPr>
                <a:t>Suitable for High-Performance VLSI</a:t>
              </a:r>
              <a:br>
                <a:rPr lang="en-US" sz="1200" dirty="0">
                  <a:latin typeface="Aptos" panose="020B0004020202020204" pitchFamily="34" charset="0"/>
                </a:rPr>
              </a:br>
              <a:r>
                <a:rPr lang="en-US" sz="1200" dirty="0">
                  <a:latin typeface="Aptos" panose="020B0004020202020204" pitchFamily="34" charset="0"/>
                </a:rPr>
                <a:t>Due to reduced delay and efficient operation, the CSA is widely applicable in high-speed arithmetic units such as ALUs, multipliers, and DSP hardware.</a:t>
              </a:r>
            </a:p>
          </p:txBody>
        </p: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E8958FB9-DC58-0D26-88EF-742AF729C45D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3285811" y="2231376"/>
              <a:ext cx="1106994" cy="1782641"/>
            </a:xfrm>
            <a:prstGeom prst="curvedConnector3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637378DD-9FFB-1869-9A28-20183A6FCCB3}"/>
                </a:ext>
              </a:extLst>
            </p:cNvPr>
            <p:cNvCxnSpPr>
              <a:cxnSpLocks/>
            </p:cNvCxnSpPr>
            <p:nvPr/>
          </p:nvCxnSpPr>
          <p:spPr>
            <a:xfrm>
              <a:off x="7546312" y="3882890"/>
              <a:ext cx="1106994" cy="2092881"/>
            </a:xfrm>
            <a:prstGeom prst="curvedConnector3">
              <a:avLst>
                <a:gd name="adj1" fmla="val 6436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1159</Words>
  <Application>Microsoft Office PowerPoint</Application>
  <PresentationFormat>On-screen Show (16:9)</PresentationFormat>
  <Paragraphs>236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MT</vt:lpstr>
      <vt:lpstr>Calibri</vt:lpstr>
      <vt:lpstr>Office Theme</vt:lpstr>
      <vt:lpstr>“High Performance Carry Save Adder  Design : Based on Parallel Addition Technique”</vt:lpstr>
      <vt:lpstr>1. Recap of Week 1</vt:lpstr>
      <vt:lpstr>PowerPoint Presentation</vt:lpstr>
      <vt:lpstr>PowerPoint Presentation</vt:lpstr>
      <vt:lpstr>4. DESIGN AND IMPLEMENTATION</vt:lpstr>
      <vt:lpstr>5.  Architecture</vt:lpstr>
      <vt:lpstr>6. BASIC OPERATION OF CARRY SAVE ADDER</vt:lpstr>
      <vt:lpstr>7. Performance Parameters and Expected Outputs </vt:lpstr>
      <vt:lpstr>Advantages</vt:lpstr>
      <vt:lpstr>9.  Timeline</vt:lpstr>
      <vt:lpstr>10.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cp:lastModifiedBy>Anuj Gupta</cp:lastModifiedBy>
  <cp:revision>1</cp:revision>
  <dcterms:created xsi:type="dcterms:W3CDTF">2026-02-15T15:10:54Z</dcterms:created>
  <dcterms:modified xsi:type="dcterms:W3CDTF">2026-03-15T19:04:11Z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